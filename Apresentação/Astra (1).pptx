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erandory Condensed" charset="1" panose="00000000000000000000"/>
      <p:regular r:id="rId18"/>
    </p:embeddedFont>
    <p:embeddedFont>
      <p:font typeface="Sloop Script Pro" charset="1" panose="00000000000000090000"/>
      <p:regular r:id="rId19"/>
    </p:embeddedFont>
    <p:embeddedFont>
      <p:font typeface="Arimo" charset="1" panose="020B0604020202020204"/>
      <p:regular r:id="rId20"/>
    </p:embeddedFont>
    <p:embeddedFont>
      <p:font typeface="Arimo Bold Italics" charset="1" panose="020B0704020202090204"/>
      <p:regular r:id="rId21"/>
    </p:embeddedFont>
    <p:embeddedFont>
      <p:font typeface="Arimo Bold" charset="1" panose="020B0704020202020204"/>
      <p:regular r:id="rId22"/>
    </p:embeddedFont>
    <p:embeddedFont>
      <p:font typeface="Calibri (MS)" charset="1" panose="020F050202020403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jpe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Relationship Id="rId9" Target="../media/image2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3.jpeg" Type="http://schemas.openxmlformats.org/officeDocument/2006/relationships/image"/><Relationship Id="rId5" Target="../media/image24.jpeg" Type="http://schemas.openxmlformats.org/officeDocument/2006/relationships/image"/><Relationship Id="rId6" Target="../media/image2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26.jpeg" Type="http://schemas.openxmlformats.org/officeDocument/2006/relationships/image"/><Relationship Id="rId5" Target="../media/image2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313" t="0" r="-931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2277" y="1053251"/>
            <a:ext cx="12863447" cy="724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9"/>
              </a:lnSpc>
              <a:spcBef>
                <a:spcPct val="0"/>
              </a:spcBef>
            </a:pPr>
            <a:r>
              <a:rPr lang="en-US" sz="39999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REMAIN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251E1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5329992">
            <a:off x="13530236" y="2838138"/>
            <a:ext cx="1921676" cy="1050516"/>
          </a:xfrm>
          <a:custGeom>
            <a:avLst/>
            <a:gdLst/>
            <a:ahLst/>
            <a:cxnLst/>
            <a:rect r="r" b="b" t="t" l="l"/>
            <a:pathLst>
              <a:path h="1050516" w="1921676">
                <a:moveTo>
                  <a:pt x="0" y="0"/>
                </a:moveTo>
                <a:lnTo>
                  <a:pt x="1921676" y="0"/>
                </a:lnTo>
                <a:lnTo>
                  <a:pt x="1921676" y="1050517"/>
                </a:lnTo>
                <a:lnTo>
                  <a:pt x="0" y="10505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48122" y="5624316"/>
            <a:ext cx="8191755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00"/>
              </a:lnSpc>
              <a:spcBef>
                <a:spcPct val="0"/>
              </a:spcBef>
            </a:pPr>
            <a:r>
              <a:rPr lang="en-US" sz="20000" spc="460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Luxury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9878" y="8922258"/>
            <a:ext cx="4019422" cy="66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b="true" sz="1799" i="true" spc="41" strike="noStrike" u="non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Ana Afonso · Ana Curi · Anna Navarro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6181" y="987564"/>
            <a:ext cx="9155637" cy="310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694"/>
              </a:lnSpc>
              <a:spcBef>
                <a:spcPct val="0"/>
              </a:spcBef>
            </a:pPr>
            <a:r>
              <a:rPr lang="en-US" sz="22353" spc="514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048122" y="855092"/>
            <a:ext cx="8191755" cy="277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00"/>
              </a:lnSpc>
              <a:spcBef>
                <a:spcPct val="0"/>
              </a:spcBef>
            </a:pPr>
            <a:r>
              <a:rPr lang="en-US" sz="20000" spc="460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Astra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05096">
            <a:off x="13168658" y="2113681"/>
            <a:ext cx="2295071" cy="1254639"/>
          </a:xfrm>
          <a:custGeom>
            <a:avLst/>
            <a:gdLst/>
            <a:ahLst/>
            <a:cxnLst/>
            <a:rect r="r" b="b" t="t" l="l"/>
            <a:pathLst>
              <a:path h="1254639" w="2295071">
                <a:moveTo>
                  <a:pt x="0" y="0"/>
                </a:moveTo>
                <a:lnTo>
                  <a:pt x="2295071" y="0"/>
                </a:lnTo>
                <a:lnTo>
                  <a:pt x="2295071" y="1254639"/>
                </a:lnTo>
                <a:lnTo>
                  <a:pt x="0" y="125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77189" y="0"/>
            <a:ext cx="9321189" cy="8130099"/>
            <a:chOff x="0" y="0"/>
            <a:chExt cx="1060302" cy="924813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1060302" cy="924813"/>
            </a:xfrm>
            <a:custGeom>
              <a:avLst/>
              <a:gdLst/>
              <a:ahLst/>
              <a:cxnLst/>
              <a:rect r="r" b="b" t="t" l="l"/>
              <a:pathLst>
                <a:path h="924813" w="1060302">
                  <a:moveTo>
                    <a:pt x="1060302" y="0"/>
                  </a:moveTo>
                  <a:lnTo>
                    <a:pt x="0" y="0"/>
                  </a:lnTo>
                  <a:lnTo>
                    <a:pt x="0" y="924813"/>
                  </a:lnTo>
                  <a:lnTo>
                    <a:pt x="1060302" y="924813"/>
                  </a:lnTo>
                  <a:close/>
                </a:path>
              </a:pathLst>
            </a:custGeom>
            <a:blipFill>
              <a:blip r:embed="rId4"/>
              <a:stretch>
                <a:fillRect l="0" t="-36041" r="0" b="-3604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14350" y="8372835"/>
            <a:ext cx="9658350" cy="229207"/>
            <a:chOff x="0" y="0"/>
            <a:chExt cx="2543763" cy="603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3763" cy="60367"/>
            </a:xfrm>
            <a:custGeom>
              <a:avLst/>
              <a:gdLst/>
              <a:ahLst/>
              <a:cxnLst/>
              <a:rect r="r" b="b" t="t" l="l"/>
              <a:pathLst>
                <a:path h="60367" w="2543763">
                  <a:moveTo>
                    <a:pt x="0" y="0"/>
                  </a:moveTo>
                  <a:lnTo>
                    <a:pt x="2543763" y="0"/>
                  </a:lnTo>
                  <a:lnTo>
                    <a:pt x="2543763" y="60367"/>
                  </a:lnTo>
                  <a:lnTo>
                    <a:pt x="0" y="60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543763" cy="127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32950" y="1494176"/>
            <a:ext cx="3721144" cy="246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88"/>
              </a:lnSpc>
              <a:spcBef>
                <a:spcPct val="0"/>
              </a:spcBef>
            </a:pPr>
            <a:r>
              <a:rPr lang="en-US" sz="13563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40731" y="1930821"/>
            <a:ext cx="7325066" cy="17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694"/>
              </a:lnSpc>
              <a:spcBef>
                <a:spcPct val="0"/>
              </a:spcBef>
            </a:pPr>
            <a:r>
              <a:rPr lang="en-US" sz="12919" spc="297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Problema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2950" y="4129483"/>
            <a:ext cx="7285198" cy="175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55"/>
              </a:lnSpc>
              <a:spcBef>
                <a:spcPct val="0"/>
              </a:spcBef>
            </a:pPr>
            <a:r>
              <a:rPr lang="en-US" sz="2657" spc="6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Você tem uma item de luxo parada no armário. Na OLX fica ao lado de sofá usado, sem passar confiança. No Instagram, negocia com desconhecidos sem garantia e incertezas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76734" y="7466347"/>
            <a:ext cx="9658350" cy="229207"/>
            <a:chOff x="0" y="0"/>
            <a:chExt cx="2543763" cy="603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43763" cy="60367"/>
            </a:xfrm>
            <a:custGeom>
              <a:avLst/>
              <a:gdLst/>
              <a:ahLst/>
              <a:cxnLst/>
              <a:rect r="r" b="b" t="t" l="l"/>
              <a:pathLst>
                <a:path h="60367" w="2543763">
                  <a:moveTo>
                    <a:pt x="0" y="0"/>
                  </a:moveTo>
                  <a:lnTo>
                    <a:pt x="2543763" y="0"/>
                  </a:lnTo>
                  <a:lnTo>
                    <a:pt x="2543763" y="60367"/>
                  </a:lnTo>
                  <a:lnTo>
                    <a:pt x="0" y="60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543763" cy="127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32950" y="4119958"/>
            <a:ext cx="7285198" cy="253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75"/>
              </a:lnSpc>
              <a:spcBef>
                <a:spcPct val="0"/>
              </a:spcBef>
            </a:pPr>
            <a:r>
              <a:rPr lang="en-US" sz="3057" spc="7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om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uma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afor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revenda de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pr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utos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cessó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rio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altíss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l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ux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of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erecen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 se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gurança,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utenticid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 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confiança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ara com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 ve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edo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 em 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n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ego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057" spc="70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ção.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576734" y="2319744"/>
            <a:ext cx="10709683" cy="6032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623"/>
              </a:lnSpc>
              <a:spcBef>
                <a:spcPct val="0"/>
              </a:spcBef>
            </a:pPr>
            <a:r>
              <a:rPr lang="en-US" sz="33302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SOMOS?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8015" y="2154263"/>
            <a:ext cx="6820186" cy="2313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50"/>
              </a:lnSpc>
              <a:spcBef>
                <a:spcPct val="0"/>
              </a:spcBef>
            </a:pPr>
            <a:r>
              <a:rPr lang="en-US" sz="16651" spc="382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Quem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4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251E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43211" y="1862987"/>
            <a:ext cx="7003689" cy="192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571"/>
              </a:lnSpc>
              <a:spcBef>
                <a:spcPct val="0"/>
              </a:spcBef>
            </a:pPr>
            <a:r>
              <a:rPr lang="en-US" sz="13746" spc="316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Pilares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805096">
            <a:off x="9232357" y="1976302"/>
            <a:ext cx="2423262" cy="1324717"/>
          </a:xfrm>
          <a:custGeom>
            <a:avLst/>
            <a:gdLst/>
            <a:ahLst/>
            <a:cxnLst/>
            <a:rect r="r" b="b" t="t" l="l"/>
            <a:pathLst>
              <a:path h="1324717" w="2423262">
                <a:moveTo>
                  <a:pt x="0" y="0"/>
                </a:moveTo>
                <a:lnTo>
                  <a:pt x="2423263" y="0"/>
                </a:lnTo>
                <a:lnTo>
                  <a:pt x="2423263" y="1324716"/>
                </a:lnTo>
                <a:lnTo>
                  <a:pt x="0" y="1324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65501" y="4145880"/>
            <a:ext cx="5582767" cy="5527944"/>
            <a:chOff x="0" y="0"/>
            <a:chExt cx="1470358" cy="14559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70359" cy="1455919"/>
            </a:xfrm>
            <a:custGeom>
              <a:avLst/>
              <a:gdLst/>
              <a:ahLst/>
              <a:cxnLst/>
              <a:rect r="r" b="b" t="t" l="l"/>
              <a:pathLst>
                <a:path h="1455919" w="1470359">
                  <a:moveTo>
                    <a:pt x="31895" y="0"/>
                  </a:moveTo>
                  <a:lnTo>
                    <a:pt x="1438463" y="0"/>
                  </a:lnTo>
                  <a:cubicBezTo>
                    <a:pt x="1446922" y="0"/>
                    <a:pt x="1455035" y="3360"/>
                    <a:pt x="1461017" y="9342"/>
                  </a:cubicBezTo>
                  <a:cubicBezTo>
                    <a:pt x="1466998" y="15323"/>
                    <a:pt x="1470359" y="23436"/>
                    <a:pt x="1470359" y="31895"/>
                  </a:cubicBezTo>
                  <a:lnTo>
                    <a:pt x="1470359" y="1424024"/>
                  </a:lnTo>
                  <a:cubicBezTo>
                    <a:pt x="1470359" y="1441639"/>
                    <a:pt x="1456078" y="1455919"/>
                    <a:pt x="1438463" y="1455919"/>
                  </a:cubicBezTo>
                  <a:lnTo>
                    <a:pt x="31895" y="1455919"/>
                  </a:lnTo>
                  <a:cubicBezTo>
                    <a:pt x="23436" y="1455919"/>
                    <a:pt x="15323" y="1452559"/>
                    <a:pt x="9342" y="1446578"/>
                  </a:cubicBezTo>
                  <a:cubicBezTo>
                    <a:pt x="3360" y="1440596"/>
                    <a:pt x="0" y="1432483"/>
                    <a:pt x="0" y="1424024"/>
                  </a:cubicBezTo>
                  <a:lnTo>
                    <a:pt x="0" y="31895"/>
                  </a:lnTo>
                  <a:cubicBezTo>
                    <a:pt x="0" y="23436"/>
                    <a:pt x="3360" y="15323"/>
                    <a:pt x="9342" y="9342"/>
                  </a:cubicBezTo>
                  <a:cubicBezTo>
                    <a:pt x="15323" y="3360"/>
                    <a:pt x="23436" y="0"/>
                    <a:pt x="318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470358" cy="152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52616" y="4145880"/>
            <a:ext cx="5582767" cy="5527944"/>
            <a:chOff x="0" y="0"/>
            <a:chExt cx="1470358" cy="14559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70359" cy="1455919"/>
            </a:xfrm>
            <a:custGeom>
              <a:avLst/>
              <a:gdLst/>
              <a:ahLst/>
              <a:cxnLst/>
              <a:rect r="r" b="b" t="t" l="l"/>
              <a:pathLst>
                <a:path h="1455919" w="1470359">
                  <a:moveTo>
                    <a:pt x="31895" y="0"/>
                  </a:moveTo>
                  <a:lnTo>
                    <a:pt x="1438463" y="0"/>
                  </a:lnTo>
                  <a:cubicBezTo>
                    <a:pt x="1446922" y="0"/>
                    <a:pt x="1455035" y="3360"/>
                    <a:pt x="1461017" y="9342"/>
                  </a:cubicBezTo>
                  <a:cubicBezTo>
                    <a:pt x="1466998" y="15323"/>
                    <a:pt x="1470359" y="23436"/>
                    <a:pt x="1470359" y="31895"/>
                  </a:cubicBezTo>
                  <a:lnTo>
                    <a:pt x="1470359" y="1424024"/>
                  </a:lnTo>
                  <a:cubicBezTo>
                    <a:pt x="1470359" y="1441639"/>
                    <a:pt x="1456078" y="1455919"/>
                    <a:pt x="1438463" y="1455919"/>
                  </a:cubicBezTo>
                  <a:lnTo>
                    <a:pt x="31895" y="1455919"/>
                  </a:lnTo>
                  <a:cubicBezTo>
                    <a:pt x="23436" y="1455919"/>
                    <a:pt x="15323" y="1452559"/>
                    <a:pt x="9342" y="1446578"/>
                  </a:cubicBezTo>
                  <a:cubicBezTo>
                    <a:pt x="3360" y="1440596"/>
                    <a:pt x="0" y="1432483"/>
                    <a:pt x="0" y="1424024"/>
                  </a:cubicBezTo>
                  <a:lnTo>
                    <a:pt x="0" y="31895"/>
                  </a:lnTo>
                  <a:cubicBezTo>
                    <a:pt x="0" y="23436"/>
                    <a:pt x="3360" y="15323"/>
                    <a:pt x="9342" y="9342"/>
                  </a:cubicBezTo>
                  <a:cubicBezTo>
                    <a:pt x="15323" y="3360"/>
                    <a:pt x="23436" y="0"/>
                    <a:pt x="318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470358" cy="152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35409" y="4145880"/>
            <a:ext cx="5582767" cy="5527944"/>
            <a:chOff x="0" y="0"/>
            <a:chExt cx="1470358" cy="14559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70359" cy="1455919"/>
            </a:xfrm>
            <a:custGeom>
              <a:avLst/>
              <a:gdLst/>
              <a:ahLst/>
              <a:cxnLst/>
              <a:rect r="r" b="b" t="t" l="l"/>
              <a:pathLst>
                <a:path h="1455919" w="1470359">
                  <a:moveTo>
                    <a:pt x="31895" y="0"/>
                  </a:moveTo>
                  <a:lnTo>
                    <a:pt x="1438463" y="0"/>
                  </a:lnTo>
                  <a:cubicBezTo>
                    <a:pt x="1446922" y="0"/>
                    <a:pt x="1455035" y="3360"/>
                    <a:pt x="1461017" y="9342"/>
                  </a:cubicBezTo>
                  <a:cubicBezTo>
                    <a:pt x="1466998" y="15323"/>
                    <a:pt x="1470359" y="23436"/>
                    <a:pt x="1470359" y="31895"/>
                  </a:cubicBezTo>
                  <a:lnTo>
                    <a:pt x="1470359" y="1424024"/>
                  </a:lnTo>
                  <a:cubicBezTo>
                    <a:pt x="1470359" y="1441639"/>
                    <a:pt x="1456078" y="1455919"/>
                    <a:pt x="1438463" y="1455919"/>
                  </a:cubicBezTo>
                  <a:lnTo>
                    <a:pt x="31895" y="1455919"/>
                  </a:lnTo>
                  <a:cubicBezTo>
                    <a:pt x="23436" y="1455919"/>
                    <a:pt x="15323" y="1452559"/>
                    <a:pt x="9342" y="1446578"/>
                  </a:cubicBezTo>
                  <a:cubicBezTo>
                    <a:pt x="3360" y="1440596"/>
                    <a:pt x="0" y="1432483"/>
                    <a:pt x="0" y="1424024"/>
                  </a:cubicBezTo>
                  <a:lnTo>
                    <a:pt x="0" y="31895"/>
                  </a:lnTo>
                  <a:cubicBezTo>
                    <a:pt x="0" y="23436"/>
                    <a:pt x="3360" y="15323"/>
                    <a:pt x="9342" y="9342"/>
                  </a:cubicBezTo>
                  <a:cubicBezTo>
                    <a:pt x="15323" y="3360"/>
                    <a:pt x="23436" y="0"/>
                    <a:pt x="318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470358" cy="152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09896" y="4768010"/>
            <a:ext cx="5293977" cy="2503291"/>
            <a:chOff x="0" y="0"/>
            <a:chExt cx="820176" cy="3878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0176" cy="387825"/>
            </a:xfrm>
            <a:custGeom>
              <a:avLst/>
              <a:gdLst/>
              <a:ahLst/>
              <a:cxnLst/>
              <a:rect r="r" b="b" t="t" l="l"/>
              <a:pathLst>
                <a:path h="387825" w="820176">
                  <a:moveTo>
                    <a:pt x="0" y="0"/>
                  </a:moveTo>
                  <a:lnTo>
                    <a:pt x="820176" y="0"/>
                  </a:lnTo>
                  <a:lnTo>
                    <a:pt x="820176" y="387825"/>
                  </a:lnTo>
                  <a:lnTo>
                    <a:pt x="0" y="387825"/>
                  </a:lnTo>
                  <a:close/>
                </a:path>
              </a:pathLst>
            </a:custGeom>
            <a:blipFill>
              <a:blip r:embed="rId4"/>
              <a:stretch>
                <a:fillRect l="0" t="-20449" r="0" b="-2044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94850" y="4768010"/>
            <a:ext cx="5293977" cy="2503291"/>
            <a:chOff x="0" y="0"/>
            <a:chExt cx="820176" cy="3878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20176" cy="387825"/>
            </a:xfrm>
            <a:custGeom>
              <a:avLst/>
              <a:gdLst/>
              <a:ahLst/>
              <a:cxnLst/>
              <a:rect r="r" b="b" t="t" l="l"/>
              <a:pathLst>
                <a:path h="387825" w="820176">
                  <a:moveTo>
                    <a:pt x="0" y="0"/>
                  </a:moveTo>
                  <a:lnTo>
                    <a:pt x="820176" y="0"/>
                  </a:lnTo>
                  <a:lnTo>
                    <a:pt x="820176" y="387825"/>
                  </a:lnTo>
                  <a:lnTo>
                    <a:pt x="0" y="387825"/>
                  </a:lnTo>
                  <a:close/>
                </a:path>
              </a:pathLst>
            </a:custGeom>
            <a:blipFill>
              <a:blip r:embed="rId5"/>
              <a:stretch>
                <a:fillRect l="0" t="-20581" r="0" b="-20581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268951" y="4768010"/>
            <a:ext cx="5293977" cy="2503291"/>
            <a:chOff x="0" y="0"/>
            <a:chExt cx="820176" cy="3878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20176" cy="387825"/>
            </a:xfrm>
            <a:custGeom>
              <a:avLst/>
              <a:gdLst/>
              <a:ahLst/>
              <a:cxnLst/>
              <a:rect r="r" b="b" t="t" l="l"/>
              <a:pathLst>
                <a:path h="387825" w="820176">
                  <a:moveTo>
                    <a:pt x="0" y="0"/>
                  </a:moveTo>
                  <a:lnTo>
                    <a:pt x="820176" y="0"/>
                  </a:lnTo>
                  <a:lnTo>
                    <a:pt x="820176" y="387825"/>
                  </a:lnTo>
                  <a:lnTo>
                    <a:pt x="0" y="387825"/>
                  </a:lnTo>
                  <a:close/>
                </a:path>
              </a:pathLst>
            </a:custGeom>
            <a:blipFill>
              <a:blip r:embed="rId6"/>
              <a:stretch>
                <a:fillRect l="0" t="-28486" r="0" b="-188338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39207" y="1272437"/>
            <a:ext cx="5333079" cy="2625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78"/>
              </a:lnSpc>
              <a:spcBef>
                <a:spcPct val="0"/>
              </a:spcBef>
            </a:pPr>
            <a:r>
              <a:rPr lang="en-US" sz="14484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OS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00292" y="4221715"/>
            <a:ext cx="2711292" cy="4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9"/>
              </a:lnSpc>
              <a:spcBef>
                <a:spcPct val="0"/>
              </a:spcBef>
            </a:pPr>
            <a:r>
              <a:rPr lang="en-US" b="true" sz="2499" spc="57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CONFIANÇA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38931" y="4221715"/>
            <a:ext cx="3287611" cy="4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9"/>
              </a:lnSpc>
              <a:spcBef>
                <a:spcPct val="0"/>
              </a:spcBef>
            </a:pPr>
            <a:r>
              <a:rPr lang="en-US" b="true" sz="2499" spc="57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EXPERIÊNCIA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39817" y="4221715"/>
            <a:ext cx="3806474" cy="45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99"/>
              </a:lnSpc>
              <a:spcBef>
                <a:spcPct val="0"/>
              </a:spcBef>
            </a:pPr>
            <a:r>
              <a:rPr lang="en-US" b="true" sz="2499" spc="57" strike="noStrike" u="non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VERIFICAÇÃO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7639" y="7480851"/>
            <a:ext cx="535849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Chat direto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seguro entre usuários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antes da compra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 suporte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dicado e huma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izad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noss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equi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em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pro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garan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ções tota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ment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rastreáve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64755" y="7480851"/>
            <a:ext cx="535849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Vendedores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subm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tidos a uma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gorosa anál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hi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tórico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 selo dourado visível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os anúncios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asseguran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l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egitimid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 e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pr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cedência p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ium de cada peça cadastrad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04438" y="7480851"/>
            <a:ext cx="5358490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 spc="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Experiência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xclu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 que u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ej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usten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ab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e acessibilidade,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of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ecend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um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jor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nad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de c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mpra imer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iva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d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esign s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ist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ic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 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rc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do second-hand de luxo</a:t>
            </a:r>
            <a:r>
              <a:rPr lang="en-US" sz="2199" spc="50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05096">
            <a:off x="7027645" y="2290820"/>
            <a:ext cx="2096401" cy="1146033"/>
          </a:xfrm>
          <a:custGeom>
            <a:avLst/>
            <a:gdLst/>
            <a:ahLst/>
            <a:cxnLst/>
            <a:rect r="r" b="b" t="t" l="l"/>
            <a:pathLst>
              <a:path h="1146033" w="2096401">
                <a:moveTo>
                  <a:pt x="0" y="0"/>
                </a:moveTo>
                <a:lnTo>
                  <a:pt x="2096401" y="0"/>
                </a:lnTo>
                <a:lnTo>
                  <a:pt x="2096401" y="1146033"/>
                </a:lnTo>
                <a:lnTo>
                  <a:pt x="0" y="1146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05142" y="4002255"/>
            <a:ext cx="3686566" cy="6454271"/>
            <a:chOff x="0" y="0"/>
            <a:chExt cx="380961" cy="6669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0961" cy="666969"/>
            </a:xfrm>
            <a:custGeom>
              <a:avLst/>
              <a:gdLst/>
              <a:ahLst/>
              <a:cxnLst/>
              <a:rect r="r" b="b" t="t" l="l"/>
              <a:pathLst>
                <a:path h="666969" w="380961">
                  <a:moveTo>
                    <a:pt x="0" y="0"/>
                  </a:moveTo>
                  <a:lnTo>
                    <a:pt x="380961" y="0"/>
                  </a:lnTo>
                  <a:lnTo>
                    <a:pt x="380961" y="666969"/>
                  </a:lnTo>
                  <a:lnTo>
                    <a:pt x="0" y="666969"/>
                  </a:lnTo>
                  <a:close/>
                </a:path>
              </a:pathLst>
            </a:custGeom>
            <a:blipFill>
              <a:blip r:embed="rId4"/>
              <a:stretch>
                <a:fillRect l="0" t="-771" r="0" b="-77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691708" y="2241273"/>
            <a:ext cx="4692408" cy="8215253"/>
            <a:chOff x="0" y="0"/>
            <a:chExt cx="380961" cy="666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0961" cy="666969"/>
            </a:xfrm>
            <a:custGeom>
              <a:avLst/>
              <a:gdLst/>
              <a:ahLst/>
              <a:cxnLst/>
              <a:rect r="r" b="b" t="t" l="l"/>
              <a:pathLst>
                <a:path h="666969" w="380961">
                  <a:moveTo>
                    <a:pt x="0" y="0"/>
                  </a:moveTo>
                  <a:lnTo>
                    <a:pt x="380961" y="0"/>
                  </a:lnTo>
                  <a:lnTo>
                    <a:pt x="380961" y="666969"/>
                  </a:lnTo>
                  <a:lnTo>
                    <a:pt x="0" y="666969"/>
                  </a:lnTo>
                  <a:close/>
                </a:path>
              </a:pathLst>
            </a:custGeom>
            <a:blipFill>
              <a:blip r:embed="rId5"/>
              <a:stretch>
                <a:fillRect l="-8322" t="0" r="-832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97550" y="962025"/>
            <a:ext cx="2361350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1157" y="1745624"/>
            <a:ext cx="4606372" cy="225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345"/>
              </a:lnSpc>
              <a:spcBef>
                <a:spcPct val="0"/>
              </a:spcBef>
            </a:pPr>
            <a:r>
              <a:rPr lang="en-US" sz="12389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QUEM ESTÁ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85833" y="2119580"/>
            <a:ext cx="7281691" cy="164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09"/>
              </a:lnSpc>
              <a:spcBef>
                <a:spcPct val="0"/>
              </a:spcBef>
            </a:pPr>
            <a:r>
              <a:rPr lang="en-US" sz="11801" spc="271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no mercado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6305" y="5247808"/>
            <a:ext cx="8250373" cy="13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64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Vestiaire Collective foi feita para o europeu. Processo burocrático, suporte em inglês — não para Brasil.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6305" y="7499201"/>
            <a:ext cx="8250373" cy="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6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 </a:t>
            </a:r>
            <a:r>
              <a:rPr lang="en-US" sz="2799" spc="64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Enjoei e OLX são genéricos. Tratam uma bolsa Chanel da mesma forma que um tênis usado.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6305" y="4726155"/>
            <a:ext cx="5529762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3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INTERNACIONAL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6305" y="6977548"/>
            <a:ext cx="5529762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3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GENÉRICOS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05142" y="3655896"/>
            <a:ext cx="3686566" cy="229207"/>
            <a:chOff x="0" y="0"/>
            <a:chExt cx="970947" cy="603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0947" cy="60367"/>
            </a:xfrm>
            <a:custGeom>
              <a:avLst/>
              <a:gdLst/>
              <a:ahLst/>
              <a:cxnLst/>
              <a:rect r="r" b="b" t="t" l="l"/>
              <a:pathLst>
                <a:path h="60367" w="970947">
                  <a:moveTo>
                    <a:pt x="0" y="0"/>
                  </a:moveTo>
                  <a:lnTo>
                    <a:pt x="970947" y="0"/>
                  </a:lnTo>
                  <a:lnTo>
                    <a:pt x="970947" y="60367"/>
                  </a:lnTo>
                  <a:lnTo>
                    <a:pt x="0" y="60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970947" cy="127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91708" y="1887891"/>
            <a:ext cx="4596292" cy="229207"/>
            <a:chOff x="0" y="0"/>
            <a:chExt cx="1210546" cy="603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0546" cy="60367"/>
            </a:xfrm>
            <a:custGeom>
              <a:avLst/>
              <a:gdLst/>
              <a:ahLst/>
              <a:cxnLst/>
              <a:rect r="r" b="b" t="t" l="l"/>
              <a:pathLst>
                <a:path h="60367" w="1210546">
                  <a:moveTo>
                    <a:pt x="0" y="0"/>
                  </a:moveTo>
                  <a:lnTo>
                    <a:pt x="1210546" y="0"/>
                  </a:lnTo>
                  <a:lnTo>
                    <a:pt x="1210546" y="60367"/>
                  </a:lnTo>
                  <a:lnTo>
                    <a:pt x="0" y="603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210546" cy="127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4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251E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608573" y="1606109"/>
            <a:ext cx="6378132" cy="1793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694"/>
              </a:lnSpc>
              <a:spcBef>
                <a:spcPct val="0"/>
              </a:spcBef>
            </a:pPr>
            <a:r>
              <a:rPr lang="en-US" sz="12919" spc="297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Mercado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805096">
            <a:off x="5038853" y="1654114"/>
            <a:ext cx="2295071" cy="1254639"/>
          </a:xfrm>
          <a:custGeom>
            <a:avLst/>
            <a:gdLst/>
            <a:ahLst/>
            <a:cxnLst/>
            <a:rect r="r" b="b" t="t" l="l"/>
            <a:pathLst>
              <a:path h="1254639" w="2295071">
                <a:moveTo>
                  <a:pt x="0" y="0"/>
                </a:moveTo>
                <a:lnTo>
                  <a:pt x="2295071" y="0"/>
                </a:lnTo>
                <a:lnTo>
                  <a:pt x="2295071" y="1254638"/>
                </a:lnTo>
                <a:lnTo>
                  <a:pt x="0" y="1254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575295" y="5865429"/>
            <a:ext cx="8974338" cy="2983011"/>
            <a:chOff x="0" y="0"/>
            <a:chExt cx="2112043" cy="7020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12043" cy="702029"/>
            </a:xfrm>
            <a:custGeom>
              <a:avLst/>
              <a:gdLst/>
              <a:ahLst/>
              <a:cxnLst/>
              <a:rect r="r" b="b" t="t" l="l"/>
              <a:pathLst>
                <a:path h="702029" w="2112043">
                  <a:moveTo>
                    <a:pt x="19841" y="0"/>
                  </a:moveTo>
                  <a:lnTo>
                    <a:pt x="2092202" y="0"/>
                  </a:lnTo>
                  <a:cubicBezTo>
                    <a:pt x="2097464" y="0"/>
                    <a:pt x="2102511" y="2090"/>
                    <a:pt x="2106232" y="5811"/>
                  </a:cubicBezTo>
                  <a:cubicBezTo>
                    <a:pt x="2109953" y="9532"/>
                    <a:pt x="2112043" y="14579"/>
                    <a:pt x="2112043" y="19841"/>
                  </a:cubicBezTo>
                  <a:lnTo>
                    <a:pt x="2112043" y="682188"/>
                  </a:lnTo>
                  <a:cubicBezTo>
                    <a:pt x="2112043" y="687450"/>
                    <a:pt x="2109953" y="692497"/>
                    <a:pt x="2106232" y="696218"/>
                  </a:cubicBezTo>
                  <a:cubicBezTo>
                    <a:pt x="2102511" y="699939"/>
                    <a:pt x="2097464" y="702029"/>
                    <a:pt x="2092202" y="702029"/>
                  </a:cubicBezTo>
                  <a:lnTo>
                    <a:pt x="19841" y="702029"/>
                  </a:lnTo>
                  <a:cubicBezTo>
                    <a:pt x="14579" y="702029"/>
                    <a:pt x="9532" y="699939"/>
                    <a:pt x="5811" y="696218"/>
                  </a:cubicBezTo>
                  <a:cubicBezTo>
                    <a:pt x="2090" y="692497"/>
                    <a:pt x="0" y="687450"/>
                    <a:pt x="0" y="682188"/>
                  </a:cubicBezTo>
                  <a:lnTo>
                    <a:pt x="0" y="19841"/>
                  </a:lnTo>
                  <a:cubicBezTo>
                    <a:pt x="0" y="14579"/>
                    <a:pt x="2090" y="9532"/>
                    <a:pt x="5811" y="5811"/>
                  </a:cubicBezTo>
                  <a:cubicBezTo>
                    <a:pt x="9532" y="2090"/>
                    <a:pt x="14579" y="0"/>
                    <a:pt x="198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112043" cy="768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75530" y="6140019"/>
            <a:ext cx="2679372" cy="2409847"/>
            <a:chOff x="0" y="0"/>
            <a:chExt cx="370924" cy="3336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0924" cy="333611"/>
            </a:xfrm>
            <a:custGeom>
              <a:avLst/>
              <a:gdLst/>
              <a:ahLst/>
              <a:cxnLst/>
              <a:rect r="r" b="b" t="t" l="l"/>
              <a:pathLst>
                <a:path h="333611" w="370924">
                  <a:moveTo>
                    <a:pt x="0" y="0"/>
                  </a:moveTo>
                  <a:lnTo>
                    <a:pt x="370924" y="0"/>
                  </a:lnTo>
                  <a:lnTo>
                    <a:pt x="370924" y="333611"/>
                  </a:lnTo>
                  <a:lnTo>
                    <a:pt x="0" y="333611"/>
                  </a:lnTo>
                  <a:close/>
                </a:path>
              </a:pathLst>
            </a:custGeom>
            <a:blipFill>
              <a:blip r:embed="rId4"/>
              <a:stretch>
                <a:fillRect l="-17497" t="0" r="-17497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760438" y="6140019"/>
            <a:ext cx="2679372" cy="2409847"/>
            <a:chOff x="0" y="0"/>
            <a:chExt cx="370924" cy="3336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0924" cy="333611"/>
            </a:xfrm>
            <a:custGeom>
              <a:avLst/>
              <a:gdLst/>
              <a:ahLst/>
              <a:cxnLst/>
              <a:rect r="r" b="b" t="t" l="l"/>
              <a:pathLst>
                <a:path h="333611" w="370924">
                  <a:moveTo>
                    <a:pt x="0" y="0"/>
                  </a:moveTo>
                  <a:lnTo>
                    <a:pt x="370924" y="0"/>
                  </a:lnTo>
                  <a:lnTo>
                    <a:pt x="370924" y="333611"/>
                  </a:lnTo>
                  <a:lnTo>
                    <a:pt x="0" y="333611"/>
                  </a:lnTo>
                  <a:close/>
                </a:path>
              </a:pathLst>
            </a:custGeom>
            <a:blipFill>
              <a:blip r:embed="rId5"/>
              <a:stretch>
                <a:fillRect l="-17455" t="0" r="-17455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545346" y="6140019"/>
            <a:ext cx="2679372" cy="2409847"/>
            <a:chOff x="0" y="0"/>
            <a:chExt cx="370924" cy="3336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0924" cy="333611"/>
            </a:xfrm>
            <a:custGeom>
              <a:avLst/>
              <a:gdLst/>
              <a:ahLst/>
              <a:cxnLst/>
              <a:rect r="r" b="b" t="t" l="l"/>
              <a:pathLst>
                <a:path h="333611" w="370924">
                  <a:moveTo>
                    <a:pt x="0" y="0"/>
                  </a:moveTo>
                  <a:lnTo>
                    <a:pt x="370924" y="0"/>
                  </a:lnTo>
                  <a:lnTo>
                    <a:pt x="370924" y="333611"/>
                  </a:lnTo>
                  <a:lnTo>
                    <a:pt x="0" y="333611"/>
                  </a:lnTo>
                  <a:close/>
                </a:path>
              </a:pathLst>
            </a:custGeom>
            <a:blipFill>
              <a:blip r:embed="rId6"/>
              <a:stretch>
                <a:fillRect l="-17371" t="0" r="-17371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214744" y="1010650"/>
            <a:ext cx="6221061" cy="246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988"/>
              </a:lnSpc>
              <a:spcBef>
                <a:spcPct val="0"/>
              </a:spcBef>
            </a:pPr>
            <a:r>
              <a:rPr lang="en-US" sz="13563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304232"/>
            <a:ext cx="3107376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3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R$ 25 BI EM 2024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6489791"/>
            <a:ext cx="4660520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3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CRESCE 10% AO ANO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03114" y="3246082"/>
            <a:ext cx="5597306" cy="519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3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100K BRECHÓS NO BRASIL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3811035"/>
            <a:ext cx="7141175" cy="13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64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mercado brasileiro de luxo de segunda mão movimentou R$ 25 bilhões em 2024 e cresceu 18% em um único semestre.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961723"/>
            <a:ext cx="7141175" cy="138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64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mercado global cresce 10% ao ano — três vezes mais rápido que o luxo primário. Projeção de US$ 360 bilhões até 2030.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03114" y="3755987"/>
            <a:ext cx="7141175" cy="184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spc="64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 mais de 100 mil brechós ativos, o Brasil já é um dos maiores mercados emergentes de revenda da América Latina.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05096">
            <a:off x="8165150" y="2214172"/>
            <a:ext cx="2295071" cy="1254639"/>
          </a:xfrm>
          <a:custGeom>
            <a:avLst/>
            <a:gdLst/>
            <a:ahLst/>
            <a:cxnLst/>
            <a:rect r="r" b="b" t="t" l="l"/>
            <a:pathLst>
              <a:path h="1254639" w="2295071">
                <a:moveTo>
                  <a:pt x="0" y="0"/>
                </a:moveTo>
                <a:lnTo>
                  <a:pt x="2295071" y="0"/>
                </a:lnTo>
                <a:lnTo>
                  <a:pt x="2295071" y="1254639"/>
                </a:lnTo>
                <a:lnTo>
                  <a:pt x="0" y="125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50096" y="3222004"/>
            <a:ext cx="2653233" cy="6605658"/>
            <a:chOff x="0" y="0"/>
            <a:chExt cx="411055" cy="10233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1055" cy="1023389"/>
            </a:xfrm>
            <a:custGeom>
              <a:avLst/>
              <a:gdLst/>
              <a:ahLst/>
              <a:cxnLst/>
              <a:rect r="r" b="b" t="t" l="l"/>
              <a:pathLst>
                <a:path h="1023389" w="411055">
                  <a:moveTo>
                    <a:pt x="0" y="0"/>
                  </a:moveTo>
                  <a:lnTo>
                    <a:pt x="411055" y="0"/>
                  </a:lnTo>
                  <a:lnTo>
                    <a:pt x="411055" y="1023389"/>
                  </a:lnTo>
                  <a:lnTo>
                    <a:pt x="0" y="1023389"/>
                  </a:lnTo>
                  <a:close/>
                </a:path>
              </a:pathLst>
            </a:custGeom>
            <a:blipFill>
              <a:blip r:embed="rId4"/>
              <a:stretch>
                <a:fillRect l="-32936" t="0" r="-3293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055641" y="3222004"/>
            <a:ext cx="2653233" cy="6605658"/>
            <a:chOff x="0" y="0"/>
            <a:chExt cx="411055" cy="1023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055" cy="1023389"/>
            </a:xfrm>
            <a:custGeom>
              <a:avLst/>
              <a:gdLst/>
              <a:ahLst/>
              <a:cxnLst/>
              <a:rect r="r" b="b" t="t" l="l"/>
              <a:pathLst>
                <a:path h="1023389" w="411055">
                  <a:moveTo>
                    <a:pt x="0" y="0"/>
                  </a:moveTo>
                  <a:lnTo>
                    <a:pt x="411055" y="0"/>
                  </a:lnTo>
                  <a:lnTo>
                    <a:pt x="411055" y="1023389"/>
                  </a:lnTo>
                  <a:lnTo>
                    <a:pt x="0" y="1023389"/>
                  </a:lnTo>
                  <a:close/>
                </a:path>
              </a:pathLst>
            </a:custGeom>
            <a:blipFill>
              <a:blip r:embed="rId5"/>
              <a:stretch>
                <a:fillRect l="-40053" t="0" r="-2607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59992" y="3222004"/>
            <a:ext cx="2653233" cy="6605658"/>
            <a:chOff x="0" y="0"/>
            <a:chExt cx="411055" cy="10233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055" cy="1023389"/>
            </a:xfrm>
            <a:custGeom>
              <a:avLst/>
              <a:gdLst/>
              <a:ahLst/>
              <a:cxnLst/>
              <a:rect r="r" b="b" t="t" l="l"/>
              <a:pathLst>
                <a:path h="1023389" w="411055">
                  <a:moveTo>
                    <a:pt x="0" y="0"/>
                  </a:moveTo>
                  <a:lnTo>
                    <a:pt x="411055" y="0"/>
                  </a:lnTo>
                  <a:lnTo>
                    <a:pt x="411055" y="1023389"/>
                  </a:lnTo>
                  <a:lnTo>
                    <a:pt x="0" y="1023389"/>
                  </a:lnTo>
                  <a:close/>
                </a:path>
              </a:pathLst>
            </a:custGeom>
            <a:blipFill>
              <a:blip r:embed="rId6"/>
              <a:stretch>
                <a:fillRect l="-32936" t="0" r="-3293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70871" y="10074576"/>
            <a:ext cx="8142354" cy="212424"/>
            <a:chOff x="0" y="0"/>
            <a:chExt cx="2144488" cy="559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44488" cy="55947"/>
            </a:xfrm>
            <a:custGeom>
              <a:avLst/>
              <a:gdLst/>
              <a:ahLst/>
              <a:cxnLst/>
              <a:rect r="r" b="b" t="t" l="l"/>
              <a:pathLst>
                <a:path h="55947" w="2144488">
                  <a:moveTo>
                    <a:pt x="0" y="0"/>
                  </a:moveTo>
                  <a:lnTo>
                    <a:pt x="2144488" y="0"/>
                  </a:lnTo>
                  <a:lnTo>
                    <a:pt x="2144488" y="55947"/>
                  </a:lnTo>
                  <a:lnTo>
                    <a:pt x="0" y="5594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2144488" cy="1226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582540" y="962025"/>
            <a:ext cx="2476360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494176"/>
            <a:ext cx="6840633" cy="246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88"/>
              </a:lnSpc>
              <a:spcBef>
                <a:spcPct val="0"/>
              </a:spcBef>
            </a:pPr>
            <a:r>
              <a:rPr lang="en-US" sz="13563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MODELO 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52317" y="2031313"/>
            <a:ext cx="6425358" cy="17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94"/>
              </a:lnSpc>
              <a:spcBef>
                <a:spcPct val="0"/>
              </a:spcBef>
            </a:pPr>
            <a:r>
              <a:rPr lang="en-US" sz="12919" spc="297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Negócio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873816"/>
            <a:ext cx="4456391" cy="47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8"/>
              </a:lnSpc>
              <a:spcBef>
                <a:spcPct val="0"/>
              </a:spcBef>
            </a:pPr>
            <a:r>
              <a:rPr lang="en-US" b="true" sz="2600" spc="59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COMISSÃO — 20%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5893389"/>
            <a:ext cx="6014032" cy="47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8"/>
              </a:lnSpc>
              <a:spcBef>
                <a:spcPct val="0"/>
              </a:spcBef>
            </a:pPr>
            <a:r>
              <a:rPr lang="en-US" b="true" sz="2600" spc="59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VISIBILIDADE PAGA — R$ 199 /MÊS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7774921"/>
            <a:ext cx="4456391" cy="479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8"/>
              </a:lnSpc>
              <a:spcBef>
                <a:spcPct val="0"/>
              </a:spcBef>
            </a:pPr>
            <a:r>
              <a:rPr lang="en-US" b="true" sz="2600" spc="59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AUTENTICAÇÃO PREMIUM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4501460"/>
            <a:ext cx="8822197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</a:t>
            </a:r>
            <a:r>
              <a:rPr lang="en-US" sz="2500" spc="5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% sobre o valor de cada venda concluída. Zero custo para listar, zero mensalidade. O vendedor paga apenas quando a transação acontece.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486733"/>
            <a:ext cx="8822197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0"/>
              </a:lnSpc>
              <a:spcBef>
                <a:spcPct val="0"/>
              </a:spcBef>
            </a:pPr>
            <a:r>
              <a:rPr lang="en-US" sz="2500" spc="5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Plano mensal de destaque: posição privilegiada no catálogo, badge de vendedor premium e seção de destaques na home.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8365852"/>
            <a:ext cx="8822197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50"/>
              </a:lnSpc>
              <a:spcBef>
                <a:spcPct val="0"/>
              </a:spcBef>
            </a:pPr>
            <a:r>
              <a:rPr lang="en-US" sz="2500" spc="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Incluída na comissão</a:t>
            </a:r>
            <a:r>
              <a:rPr lang="en-US" sz="2500" spc="57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: especialista autentica fisicamente o item antes da venda. Selo de procedência no anúncio e garantia de originalidade ao comprador.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4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2499065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99" spc="4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82537" y="895350"/>
            <a:ext cx="2476357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3"/>
              </a:lnSpc>
            </a:pPr>
            <a:r>
              <a:rPr lang="en-US" sz="1799" spc="4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685970" y="455644"/>
            <a:ext cx="4916060" cy="1832495"/>
            <a:chOff x="0" y="0"/>
            <a:chExt cx="6554747" cy="24433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54751" cy="2443329"/>
            </a:xfrm>
            <a:custGeom>
              <a:avLst/>
              <a:gdLst/>
              <a:ahLst/>
              <a:cxnLst/>
              <a:rect r="r" b="b" t="t" l="l"/>
              <a:pathLst>
                <a:path h="2443329" w="6554751">
                  <a:moveTo>
                    <a:pt x="0" y="0"/>
                  </a:moveTo>
                  <a:lnTo>
                    <a:pt x="6554751" y="0"/>
                  </a:lnTo>
                  <a:lnTo>
                    <a:pt x="6554751" y="2443329"/>
                  </a:lnTo>
                  <a:lnTo>
                    <a:pt x="0" y="24433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1791" r="-229531" b="-9271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95250"/>
              <a:ext cx="6554747" cy="2348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321"/>
                </a:lnSpc>
              </a:pPr>
              <a:r>
                <a:rPr lang="en-US" sz="8699">
                  <a:solidFill>
                    <a:srgbClr val="FFD67A"/>
                  </a:solidFill>
                  <a:latin typeface="Sloop Script Pro"/>
                  <a:ea typeface="Sloop Script Pro"/>
                  <a:cs typeface="Sloop Script Pro"/>
                  <a:sym typeface="Sloop Script Pro"/>
                </a:rPr>
                <a:t>Roadmap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721681"/>
            <a:ext cx="16199996" cy="80000"/>
            <a:chOff x="0" y="0"/>
            <a:chExt cx="21599995" cy="106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00033" cy="106680"/>
            </a:xfrm>
            <a:custGeom>
              <a:avLst/>
              <a:gdLst/>
              <a:ahLst/>
              <a:cxnLst/>
              <a:rect r="r" b="b" t="t" l="l"/>
              <a:pathLst>
                <a:path h="106680" w="21600033">
                  <a:moveTo>
                    <a:pt x="0" y="0"/>
                  </a:moveTo>
                  <a:lnTo>
                    <a:pt x="21600033" y="0"/>
                  </a:lnTo>
                  <a:lnTo>
                    <a:pt x="21600033" y="106680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FFD67A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3145779" y="2501682"/>
            <a:ext cx="519998" cy="519998"/>
            <a:chOff x="0" y="0"/>
            <a:chExt cx="693331" cy="6933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3420" cy="693420"/>
            </a:xfrm>
            <a:custGeom>
              <a:avLst/>
              <a:gdLst/>
              <a:ahLst/>
              <a:cxnLst/>
              <a:rect r="r" b="b" t="t" l="l"/>
              <a:pathLst>
                <a:path h="693420" w="693420">
                  <a:moveTo>
                    <a:pt x="0" y="346710"/>
                  </a:moveTo>
                  <a:cubicBezTo>
                    <a:pt x="0" y="155194"/>
                    <a:pt x="155194" y="0"/>
                    <a:pt x="346710" y="0"/>
                  </a:cubicBezTo>
                  <a:cubicBezTo>
                    <a:pt x="538226" y="0"/>
                    <a:pt x="693420" y="155194"/>
                    <a:pt x="693420" y="346710"/>
                  </a:cubicBezTo>
                  <a:cubicBezTo>
                    <a:pt x="693420" y="538226"/>
                    <a:pt x="538226" y="693420"/>
                    <a:pt x="346710" y="693420"/>
                  </a:cubicBezTo>
                  <a:cubicBezTo>
                    <a:pt x="155194" y="693420"/>
                    <a:pt x="0" y="538099"/>
                    <a:pt x="0" y="346710"/>
                  </a:cubicBezTo>
                  <a:close/>
                </a:path>
              </a:pathLst>
            </a:custGeom>
            <a:solidFill>
              <a:srgbClr val="FFD67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55780" y="1747383"/>
            <a:ext cx="4699997" cy="787352"/>
            <a:chOff x="0" y="0"/>
            <a:chExt cx="6266663" cy="10498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66667" cy="1049804"/>
            </a:xfrm>
            <a:custGeom>
              <a:avLst/>
              <a:gdLst/>
              <a:ahLst/>
              <a:cxnLst/>
              <a:rect r="r" b="b" t="t" l="l"/>
              <a:pathLst>
                <a:path h="1049804" w="6266667">
                  <a:moveTo>
                    <a:pt x="0" y="0"/>
                  </a:moveTo>
                  <a:lnTo>
                    <a:pt x="6266667" y="0"/>
                  </a:lnTo>
                  <a:lnTo>
                    <a:pt x="6266667" y="1049804"/>
                  </a:lnTo>
                  <a:lnTo>
                    <a:pt x="0" y="10498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11" r="0" b="-544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266663" cy="1059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6"/>
                </a:lnSpc>
              </a:pPr>
              <a:r>
                <a:rPr lang="en-US" sz="2400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Fase 1</a:t>
              </a:r>
            </a:p>
            <a:p>
              <a:pPr algn="ctr">
                <a:lnSpc>
                  <a:spcPts val="2925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0 – 6 meses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5780" y="3097880"/>
            <a:ext cx="4699997" cy="6800002"/>
            <a:chOff x="0" y="0"/>
            <a:chExt cx="6266663" cy="90666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66688" cy="9066657"/>
            </a:xfrm>
            <a:custGeom>
              <a:avLst/>
              <a:gdLst/>
              <a:ahLst/>
              <a:cxnLst/>
              <a:rect r="r" b="b" t="t" l="l"/>
              <a:pathLst>
                <a:path h="9066657" w="6266688">
                  <a:moveTo>
                    <a:pt x="139700" y="0"/>
                  </a:moveTo>
                  <a:lnTo>
                    <a:pt x="6126988" y="0"/>
                  </a:lnTo>
                  <a:cubicBezTo>
                    <a:pt x="6204142" y="0"/>
                    <a:pt x="6266688" y="62546"/>
                    <a:pt x="6266688" y="139700"/>
                  </a:cubicBezTo>
                  <a:lnTo>
                    <a:pt x="6266688" y="8926957"/>
                  </a:lnTo>
                  <a:cubicBezTo>
                    <a:pt x="6266688" y="9004111"/>
                    <a:pt x="6204142" y="9066657"/>
                    <a:pt x="6126988" y="9066657"/>
                  </a:cubicBezTo>
                  <a:lnTo>
                    <a:pt x="139700" y="9066657"/>
                  </a:lnTo>
                  <a:cubicBezTo>
                    <a:pt x="102649" y="9066657"/>
                    <a:pt x="67116" y="9051938"/>
                    <a:pt x="40917" y="9025740"/>
                  </a:cubicBezTo>
                  <a:cubicBezTo>
                    <a:pt x="14718" y="8999541"/>
                    <a:pt x="0" y="8964007"/>
                    <a:pt x="0" y="8926957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A312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5776" y="3659855"/>
            <a:ext cx="4300004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Lançamento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Campanha com micro-influenciadores de moda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500 usuários ativos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50 vendedores verificados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75 transações/mês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Ticket médio  R$ 2.500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R$ 37.500/mês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884001" y="2461682"/>
            <a:ext cx="519998" cy="519998"/>
            <a:chOff x="0" y="0"/>
            <a:chExt cx="693331" cy="6933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3420" cy="693420"/>
            </a:xfrm>
            <a:custGeom>
              <a:avLst/>
              <a:gdLst/>
              <a:ahLst/>
              <a:cxnLst/>
              <a:rect r="r" b="b" t="t" l="l"/>
              <a:pathLst>
                <a:path h="693420" w="693420">
                  <a:moveTo>
                    <a:pt x="0" y="346710"/>
                  </a:moveTo>
                  <a:cubicBezTo>
                    <a:pt x="0" y="155194"/>
                    <a:pt x="155194" y="0"/>
                    <a:pt x="346710" y="0"/>
                  </a:cubicBezTo>
                  <a:cubicBezTo>
                    <a:pt x="538226" y="0"/>
                    <a:pt x="693420" y="155194"/>
                    <a:pt x="693420" y="346710"/>
                  </a:cubicBezTo>
                  <a:cubicBezTo>
                    <a:pt x="693420" y="538226"/>
                    <a:pt x="538226" y="693420"/>
                    <a:pt x="346710" y="693420"/>
                  </a:cubicBezTo>
                  <a:cubicBezTo>
                    <a:pt x="155194" y="693420"/>
                    <a:pt x="0" y="538099"/>
                    <a:pt x="0" y="346710"/>
                  </a:cubicBezTo>
                  <a:close/>
                </a:path>
              </a:pathLst>
            </a:custGeom>
            <a:solidFill>
              <a:srgbClr val="FFD67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78700" y="1747383"/>
            <a:ext cx="4699997" cy="787352"/>
            <a:chOff x="0" y="0"/>
            <a:chExt cx="6266663" cy="10498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66667" cy="1049804"/>
            </a:xfrm>
            <a:custGeom>
              <a:avLst/>
              <a:gdLst/>
              <a:ahLst/>
              <a:cxnLst/>
              <a:rect r="r" b="b" t="t" l="l"/>
              <a:pathLst>
                <a:path h="1049804" w="6266667">
                  <a:moveTo>
                    <a:pt x="0" y="0"/>
                  </a:moveTo>
                  <a:lnTo>
                    <a:pt x="6266667" y="0"/>
                  </a:lnTo>
                  <a:lnTo>
                    <a:pt x="6266667" y="1049804"/>
                  </a:lnTo>
                  <a:lnTo>
                    <a:pt x="0" y="10498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11" r="0" b="-544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266663" cy="1059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6"/>
                </a:lnSpc>
              </a:pPr>
              <a:r>
                <a:rPr lang="en-US" sz="2400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Fase 2</a:t>
              </a:r>
            </a:p>
            <a:p>
              <a:pPr algn="ctr">
                <a:lnSpc>
                  <a:spcPts val="2925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6 – 12 meses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94002" y="3097880"/>
            <a:ext cx="4699997" cy="6800002"/>
            <a:chOff x="0" y="0"/>
            <a:chExt cx="6266663" cy="90666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66688" cy="9066657"/>
            </a:xfrm>
            <a:custGeom>
              <a:avLst/>
              <a:gdLst/>
              <a:ahLst/>
              <a:cxnLst/>
              <a:rect r="r" b="b" t="t" l="l"/>
              <a:pathLst>
                <a:path h="9066657" w="6266688">
                  <a:moveTo>
                    <a:pt x="139700" y="0"/>
                  </a:moveTo>
                  <a:lnTo>
                    <a:pt x="6126988" y="0"/>
                  </a:lnTo>
                  <a:cubicBezTo>
                    <a:pt x="6204142" y="0"/>
                    <a:pt x="6266688" y="62546"/>
                    <a:pt x="6266688" y="139700"/>
                  </a:cubicBezTo>
                  <a:lnTo>
                    <a:pt x="6266688" y="8926957"/>
                  </a:lnTo>
                  <a:cubicBezTo>
                    <a:pt x="6266688" y="9004111"/>
                    <a:pt x="6204142" y="9066657"/>
                    <a:pt x="6126988" y="9066657"/>
                  </a:cubicBezTo>
                  <a:lnTo>
                    <a:pt x="139700" y="9066657"/>
                  </a:lnTo>
                  <a:cubicBezTo>
                    <a:pt x="102649" y="9066657"/>
                    <a:pt x="67116" y="9051938"/>
                    <a:pt x="40917" y="9025740"/>
                  </a:cubicBezTo>
                  <a:cubicBezTo>
                    <a:pt x="14718" y="8999541"/>
                    <a:pt x="0" y="8964007"/>
                    <a:pt x="0" y="8926957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A312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993998" y="3374105"/>
            <a:ext cx="4300004" cy="6728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Crescimento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Expansão com categoria Relógios e joias e sistema de lance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2.000 usuários ativos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200 vendedores verificados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250 transações/mês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Ticket médio R$ 3.500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R$ 175.000/mês</a:t>
            </a:r>
          </a:p>
          <a:p>
            <a:pPr algn="l">
              <a:lnSpc>
                <a:spcPts val="3149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4623699" y="2521684"/>
            <a:ext cx="519998" cy="519998"/>
            <a:chOff x="0" y="0"/>
            <a:chExt cx="693331" cy="6933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3420" cy="693420"/>
            </a:xfrm>
            <a:custGeom>
              <a:avLst/>
              <a:gdLst/>
              <a:ahLst/>
              <a:cxnLst/>
              <a:rect r="r" b="b" t="t" l="l"/>
              <a:pathLst>
                <a:path h="693420" w="693420">
                  <a:moveTo>
                    <a:pt x="0" y="346710"/>
                  </a:moveTo>
                  <a:cubicBezTo>
                    <a:pt x="0" y="155194"/>
                    <a:pt x="155194" y="0"/>
                    <a:pt x="346710" y="0"/>
                  </a:cubicBezTo>
                  <a:cubicBezTo>
                    <a:pt x="538226" y="0"/>
                    <a:pt x="693420" y="155194"/>
                    <a:pt x="693420" y="346710"/>
                  </a:cubicBezTo>
                  <a:cubicBezTo>
                    <a:pt x="693420" y="538226"/>
                    <a:pt x="538226" y="693420"/>
                    <a:pt x="346710" y="693420"/>
                  </a:cubicBezTo>
                  <a:cubicBezTo>
                    <a:pt x="155194" y="693420"/>
                    <a:pt x="0" y="538099"/>
                    <a:pt x="0" y="346710"/>
                  </a:cubicBezTo>
                  <a:close/>
                </a:path>
              </a:pathLst>
            </a:custGeom>
            <a:solidFill>
              <a:srgbClr val="FFD67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528699" y="1674330"/>
            <a:ext cx="4699997" cy="787352"/>
            <a:chOff x="0" y="0"/>
            <a:chExt cx="6266663" cy="104980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66667" cy="1049804"/>
            </a:xfrm>
            <a:custGeom>
              <a:avLst/>
              <a:gdLst/>
              <a:ahLst/>
              <a:cxnLst/>
              <a:rect r="r" b="b" t="t" l="l"/>
              <a:pathLst>
                <a:path h="1049804" w="6266667">
                  <a:moveTo>
                    <a:pt x="0" y="0"/>
                  </a:moveTo>
                  <a:lnTo>
                    <a:pt x="6266667" y="0"/>
                  </a:lnTo>
                  <a:lnTo>
                    <a:pt x="6266667" y="1049804"/>
                  </a:lnTo>
                  <a:lnTo>
                    <a:pt x="0" y="10498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211" r="0" b="-544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266663" cy="10593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36"/>
                </a:lnSpc>
              </a:pPr>
              <a:r>
                <a:rPr lang="en-US" sz="2400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Fase 3</a:t>
              </a:r>
            </a:p>
            <a:p>
              <a:pPr algn="ctr">
                <a:lnSpc>
                  <a:spcPts val="2925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1 – 3 anos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28699" y="3097880"/>
            <a:ext cx="4699997" cy="6800002"/>
            <a:chOff x="0" y="0"/>
            <a:chExt cx="6266663" cy="90666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66688" cy="9066657"/>
            </a:xfrm>
            <a:custGeom>
              <a:avLst/>
              <a:gdLst/>
              <a:ahLst/>
              <a:cxnLst/>
              <a:rect r="r" b="b" t="t" l="l"/>
              <a:pathLst>
                <a:path h="9066657" w="6266688">
                  <a:moveTo>
                    <a:pt x="139700" y="0"/>
                  </a:moveTo>
                  <a:lnTo>
                    <a:pt x="6126988" y="0"/>
                  </a:lnTo>
                  <a:cubicBezTo>
                    <a:pt x="6204142" y="0"/>
                    <a:pt x="6266688" y="62546"/>
                    <a:pt x="6266688" y="139700"/>
                  </a:cubicBezTo>
                  <a:lnTo>
                    <a:pt x="6266688" y="8926957"/>
                  </a:lnTo>
                  <a:cubicBezTo>
                    <a:pt x="6266688" y="9004111"/>
                    <a:pt x="6204142" y="9066657"/>
                    <a:pt x="6126988" y="9066657"/>
                  </a:cubicBezTo>
                  <a:lnTo>
                    <a:pt x="139700" y="9066657"/>
                  </a:lnTo>
                  <a:cubicBezTo>
                    <a:pt x="102649" y="9066657"/>
                    <a:pt x="67116" y="9051938"/>
                    <a:pt x="40917" y="9025740"/>
                  </a:cubicBezTo>
                  <a:cubicBezTo>
                    <a:pt x="14718" y="8999541"/>
                    <a:pt x="0" y="8964007"/>
                    <a:pt x="0" y="8926957"/>
                  </a:cubicBezTo>
                  <a:lnTo>
                    <a:pt x="0" y="139700"/>
                  </a:lnTo>
                  <a:cubicBezTo>
                    <a:pt x="0" y="62546"/>
                    <a:pt x="62546" y="0"/>
                    <a:pt x="139700" y="0"/>
                  </a:cubicBezTo>
                  <a:close/>
                </a:path>
              </a:pathLst>
            </a:custGeom>
            <a:solidFill>
              <a:srgbClr val="3A3128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728696" y="3464593"/>
            <a:ext cx="4300004" cy="59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Escala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Equipe própria de peritos físicos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Parcerias joalherias e influencers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10.000 usuários ativos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850 transações/mês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▸ Ticket médio 5.000</a:t>
            </a:r>
          </a:p>
          <a:p>
            <a:pPr algn="l">
              <a:lnSpc>
                <a:spcPts val="3149"/>
              </a:lnSpc>
            </a:pPr>
          </a:p>
          <a:p>
            <a:pPr algn="l">
              <a:lnSpc>
                <a:spcPts val="3149"/>
              </a:lnSpc>
            </a:pPr>
            <a:r>
              <a:rPr lang="en-US" sz="2799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R$ 510.000/mês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-1805096">
            <a:off x="8588542" y="804365"/>
            <a:ext cx="1630914" cy="891566"/>
          </a:xfrm>
          <a:custGeom>
            <a:avLst/>
            <a:gdLst/>
            <a:ahLst/>
            <a:cxnLst/>
            <a:rect r="r" b="b" t="t" l="l"/>
            <a:pathLst>
              <a:path h="891566" w="1630914">
                <a:moveTo>
                  <a:pt x="0" y="0"/>
                </a:moveTo>
                <a:lnTo>
                  <a:pt x="1630914" y="0"/>
                </a:lnTo>
                <a:lnTo>
                  <a:pt x="1630914" y="891566"/>
                </a:lnTo>
                <a:lnTo>
                  <a:pt x="0" y="891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2499065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1799" spc="4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82537" y="895350"/>
            <a:ext cx="2476357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3"/>
              </a:lnSpc>
            </a:pPr>
            <a:r>
              <a:rPr lang="en-US" sz="1799" spc="4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229" y="4393799"/>
            <a:ext cx="3799999" cy="167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O QUE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229" y="5650952"/>
            <a:ext cx="3799999" cy="101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Precisamos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178938" y="0"/>
            <a:ext cx="94908" cy="12338402"/>
            <a:chOff x="0" y="0"/>
            <a:chExt cx="79997" cy="104000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010" cy="10400030"/>
            </a:xfrm>
            <a:custGeom>
              <a:avLst/>
              <a:gdLst/>
              <a:ahLst/>
              <a:cxnLst/>
              <a:rect r="r" b="b" t="t" l="l"/>
              <a:pathLst>
                <a:path h="10400030" w="80010">
                  <a:moveTo>
                    <a:pt x="0" y="0"/>
                  </a:moveTo>
                  <a:lnTo>
                    <a:pt x="80010" y="0"/>
                  </a:lnTo>
                  <a:lnTo>
                    <a:pt x="80010" y="10400030"/>
                  </a:lnTo>
                  <a:lnTo>
                    <a:pt x="0" y="10400030"/>
                  </a:lnTo>
                  <a:close/>
                </a:path>
              </a:pathLst>
            </a:custGeom>
            <a:solidFill>
              <a:srgbClr val="FFD67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600005" y="1799996"/>
            <a:ext cx="12200001" cy="1700003"/>
            <a:chOff x="0" y="0"/>
            <a:chExt cx="16266668" cy="2266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266668" cy="2266696"/>
            </a:xfrm>
            <a:custGeom>
              <a:avLst/>
              <a:gdLst/>
              <a:ahLst/>
              <a:cxnLst/>
              <a:rect r="r" b="b" t="t" l="l"/>
              <a:pathLst>
                <a:path h="2266696" w="16266668">
                  <a:moveTo>
                    <a:pt x="127000" y="0"/>
                  </a:moveTo>
                  <a:lnTo>
                    <a:pt x="16139668" y="0"/>
                  </a:lnTo>
                  <a:cubicBezTo>
                    <a:pt x="16209807" y="0"/>
                    <a:pt x="16266668" y="56860"/>
                    <a:pt x="16266668" y="127000"/>
                  </a:cubicBezTo>
                  <a:lnTo>
                    <a:pt x="16266668" y="2139696"/>
                  </a:lnTo>
                  <a:cubicBezTo>
                    <a:pt x="16266668" y="2173378"/>
                    <a:pt x="16253287" y="2205681"/>
                    <a:pt x="16229470" y="2229499"/>
                  </a:cubicBezTo>
                  <a:cubicBezTo>
                    <a:pt x="16205653" y="2253316"/>
                    <a:pt x="16173351" y="2266696"/>
                    <a:pt x="16139668" y="2266696"/>
                  </a:cubicBezTo>
                  <a:lnTo>
                    <a:pt x="127000" y="2266696"/>
                  </a:lnTo>
                  <a:cubicBezTo>
                    <a:pt x="56860" y="2266696"/>
                    <a:pt x="0" y="2209836"/>
                    <a:pt x="0" y="2139696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2E28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50004" y="1869996"/>
            <a:ext cx="700002" cy="900000"/>
            <a:chOff x="0" y="0"/>
            <a:chExt cx="933336" cy="120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3333" cy="1200002"/>
            </a:xfrm>
            <a:custGeom>
              <a:avLst/>
              <a:gdLst/>
              <a:ahLst/>
              <a:cxnLst/>
              <a:rect r="r" b="b" t="t" l="l"/>
              <a:pathLst>
                <a:path h="1200002" w="933333">
                  <a:moveTo>
                    <a:pt x="0" y="0"/>
                  </a:moveTo>
                  <a:lnTo>
                    <a:pt x="933333" y="0"/>
                  </a:lnTo>
                  <a:lnTo>
                    <a:pt x="933333" y="1200002"/>
                  </a:lnTo>
                  <a:lnTo>
                    <a:pt x="0" y="12000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961" t="0" r="-11496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33336" cy="1247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4"/>
                </a:lnSpc>
              </a:pPr>
              <a:r>
                <a:rPr lang="en-US" sz="3699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99996" y="1869996"/>
            <a:ext cx="11000003" cy="1500000"/>
            <a:chOff x="0" y="0"/>
            <a:chExt cx="14666671" cy="200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66666" cy="2000004"/>
            </a:xfrm>
            <a:custGeom>
              <a:avLst/>
              <a:gdLst/>
              <a:ahLst/>
              <a:cxnLst/>
              <a:rect r="r" b="b" t="t" l="l"/>
              <a:pathLst>
                <a:path h="2000004" w="14666666">
                  <a:moveTo>
                    <a:pt x="0" y="0"/>
                  </a:moveTo>
                  <a:lnTo>
                    <a:pt x="14666666" y="0"/>
                  </a:lnTo>
                  <a:lnTo>
                    <a:pt x="14666666" y="2000004"/>
                  </a:lnTo>
                  <a:lnTo>
                    <a:pt x="0" y="2000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38100"/>
              <a:ext cx="14666671" cy="196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6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Investimento inicial: R$ 150.000</a:t>
              </a:r>
            </a:p>
            <a:p>
              <a:pPr algn="l">
                <a:lnSpc>
                  <a:spcPts val="2362"/>
                </a:lnSpc>
              </a:pPr>
              <a:r>
                <a:rPr lang="en-US" sz="2099">
                  <a:solidFill>
                    <a:srgbClr val="CCCCCC"/>
                  </a:solidFill>
                  <a:latin typeface="Arimo"/>
                  <a:ea typeface="Arimo"/>
                  <a:cs typeface="Arimo"/>
                  <a:sym typeface="Arimo"/>
                </a:rPr>
                <a:t>Tração de marketing, campanha com micro-influenciadores e aquisição dos primeiros 500 usuários VIP.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00005" y="3649999"/>
            <a:ext cx="12200001" cy="1700003"/>
            <a:chOff x="0" y="0"/>
            <a:chExt cx="16266668" cy="2266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66668" cy="2266696"/>
            </a:xfrm>
            <a:custGeom>
              <a:avLst/>
              <a:gdLst/>
              <a:ahLst/>
              <a:cxnLst/>
              <a:rect r="r" b="b" t="t" l="l"/>
              <a:pathLst>
                <a:path h="2266696" w="16266668">
                  <a:moveTo>
                    <a:pt x="127000" y="0"/>
                  </a:moveTo>
                  <a:lnTo>
                    <a:pt x="16139668" y="0"/>
                  </a:lnTo>
                  <a:cubicBezTo>
                    <a:pt x="16209807" y="0"/>
                    <a:pt x="16266668" y="56860"/>
                    <a:pt x="16266668" y="127000"/>
                  </a:cubicBezTo>
                  <a:lnTo>
                    <a:pt x="16266668" y="2139696"/>
                  </a:lnTo>
                  <a:cubicBezTo>
                    <a:pt x="16266668" y="2173378"/>
                    <a:pt x="16253287" y="2205681"/>
                    <a:pt x="16229470" y="2229499"/>
                  </a:cubicBezTo>
                  <a:cubicBezTo>
                    <a:pt x="16205653" y="2253316"/>
                    <a:pt x="16173351" y="2266696"/>
                    <a:pt x="16139668" y="2266696"/>
                  </a:cubicBezTo>
                  <a:lnTo>
                    <a:pt x="127000" y="2266696"/>
                  </a:lnTo>
                  <a:cubicBezTo>
                    <a:pt x="56860" y="2266696"/>
                    <a:pt x="0" y="2209836"/>
                    <a:pt x="0" y="2139696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2291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750004" y="3719998"/>
            <a:ext cx="700002" cy="900000"/>
            <a:chOff x="0" y="0"/>
            <a:chExt cx="933336" cy="120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3333" cy="1200002"/>
            </a:xfrm>
            <a:custGeom>
              <a:avLst/>
              <a:gdLst/>
              <a:ahLst/>
              <a:cxnLst/>
              <a:rect r="r" b="b" t="t" l="l"/>
              <a:pathLst>
                <a:path h="1200002" w="933333">
                  <a:moveTo>
                    <a:pt x="0" y="0"/>
                  </a:moveTo>
                  <a:lnTo>
                    <a:pt x="933333" y="0"/>
                  </a:lnTo>
                  <a:lnTo>
                    <a:pt x="933333" y="1200002"/>
                  </a:lnTo>
                  <a:lnTo>
                    <a:pt x="0" y="12000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961" t="0" r="-11496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33336" cy="1247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4"/>
                </a:lnSpc>
              </a:pPr>
              <a:r>
                <a:rPr lang="en-US" sz="3699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599996" y="3719998"/>
            <a:ext cx="11000003" cy="1500000"/>
            <a:chOff x="0" y="0"/>
            <a:chExt cx="14666671" cy="200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66666" cy="2000004"/>
            </a:xfrm>
            <a:custGeom>
              <a:avLst/>
              <a:gdLst/>
              <a:ahLst/>
              <a:cxnLst/>
              <a:rect r="r" b="b" t="t" l="l"/>
              <a:pathLst>
                <a:path h="2000004" w="14666666">
                  <a:moveTo>
                    <a:pt x="0" y="0"/>
                  </a:moveTo>
                  <a:lnTo>
                    <a:pt x="14666666" y="0"/>
                  </a:lnTo>
                  <a:lnTo>
                    <a:pt x="14666666" y="2000004"/>
                  </a:lnTo>
                  <a:lnTo>
                    <a:pt x="0" y="2000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38100"/>
              <a:ext cx="14666671" cy="196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6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Parcerias estratégicas</a:t>
              </a:r>
            </a:p>
            <a:p>
              <a:pPr algn="l">
                <a:lnSpc>
                  <a:spcPts val="2362"/>
                </a:lnSpc>
              </a:pPr>
              <a:r>
                <a:rPr lang="en-US" sz="2099" b="true">
                  <a:solidFill>
                    <a:srgbClr val="CCCCC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</a:t>
              </a:r>
              <a:r>
                <a:rPr lang="en-US" sz="2099">
                  <a:solidFill>
                    <a:srgbClr val="CCCCCC"/>
                  </a:solidFill>
                  <a:latin typeface="Arimo"/>
                  <a:ea typeface="Arimo"/>
                  <a:cs typeface="Arimo"/>
                  <a:sym typeface="Arimo"/>
                </a:rPr>
                <a:t>ersonal shoppers e influencers de luxo para validação de marca e curadoria do catálogo inicial.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600005" y="5500002"/>
            <a:ext cx="12200001" cy="1700003"/>
            <a:chOff x="0" y="0"/>
            <a:chExt cx="16266668" cy="2266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266668" cy="2266696"/>
            </a:xfrm>
            <a:custGeom>
              <a:avLst/>
              <a:gdLst/>
              <a:ahLst/>
              <a:cxnLst/>
              <a:rect r="r" b="b" t="t" l="l"/>
              <a:pathLst>
                <a:path h="2266696" w="16266668">
                  <a:moveTo>
                    <a:pt x="127000" y="0"/>
                  </a:moveTo>
                  <a:lnTo>
                    <a:pt x="16139668" y="0"/>
                  </a:lnTo>
                  <a:cubicBezTo>
                    <a:pt x="16209807" y="0"/>
                    <a:pt x="16266668" y="56860"/>
                    <a:pt x="16266668" y="127000"/>
                  </a:cubicBezTo>
                  <a:lnTo>
                    <a:pt x="16266668" y="2139696"/>
                  </a:lnTo>
                  <a:cubicBezTo>
                    <a:pt x="16266668" y="2173378"/>
                    <a:pt x="16253287" y="2205681"/>
                    <a:pt x="16229470" y="2229499"/>
                  </a:cubicBezTo>
                  <a:cubicBezTo>
                    <a:pt x="16205653" y="2253316"/>
                    <a:pt x="16173351" y="2266696"/>
                    <a:pt x="16139668" y="2266696"/>
                  </a:cubicBezTo>
                  <a:lnTo>
                    <a:pt x="127000" y="2266696"/>
                  </a:lnTo>
                  <a:cubicBezTo>
                    <a:pt x="56860" y="2266696"/>
                    <a:pt x="0" y="2209836"/>
                    <a:pt x="0" y="2139696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2E28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750004" y="5570001"/>
            <a:ext cx="700002" cy="900000"/>
            <a:chOff x="0" y="0"/>
            <a:chExt cx="933336" cy="120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33333" cy="1200002"/>
            </a:xfrm>
            <a:custGeom>
              <a:avLst/>
              <a:gdLst/>
              <a:ahLst/>
              <a:cxnLst/>
              <a:rect r="r" b="b" t="t" l="l"/>
              <a:pathLst>
                <a:path h="1200002" w="933333">
                  <a:moveTo>
                    <a:pt x="0" y="0"/>
                  </a:moveTo>
                  <a:lnTo>
                    <a:pt x="933333" y="0"/>
                  </a:lnTo>
                  <a:lnTo>
                    <a:pt x="933333" y="1200002"/>
                  </a:lnTo>
                  <a:lnTo>
                    <a:pt x="0" y="12000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961" t="0" r="-11496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33336" cy="1247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4"/>
                </a:lnSpc>
              </a:pPr>
              <a:r>
                <a:rPr lang="en-US" sz="3699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99996" y="5570001"/>
            <a:ext cx="11000003" cy="1500000"/>
            <a:chOff x="0" y="0"/>
            <a:chExt cx="14666671" cy="2000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66666" cy="2000004"/>
            </a:xfrm>
            <a:custGeom>
              <a:avLst/>
              <a:gdLst/>
              <a:ahLst/>
              <a:cxnLst/>
              <a:rect r="r" b="b" t="t" l="l"/>
              <a:pathLst>
                <a:path h="2000004" w="14666666">
                  <a:moveTo>
                    <a:pt x="0" y="0"/>
                  </a:moveTo>
                  <a:lnTo>
                    <a:pt x="14666666" y="0"/>
                  </a:lnTo>
                  <a:lnTo>
                    <a:pt x="14666666" y="2000004"/>
                  </a:lnTo>
                  <a:lnTo>
                    <a:pt x="0" y="2000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38100"/>
              <a:ext cx="14666671" cy="196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6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Peritos em autenticação</a:t>
              </a:r>
            </a:p>
            <a:p>
              <a:pPr algn="l">
                <a:lnSpc>
                  <a:spcPts val="2362"/>
                </a:lnSpc>
              </a:pPr>
              <a:r>
                <a:rPr lang="en-US" sz="2099">
                  <a:solidFill>
                    <a:srgbClr val="CCCCCC"/>
                  </a:solidFill>
                  <a:latin typeface="Arimo"/>
                  <a:ea typeface="Arimo"/>
                  <a:cs typeface="Arimo"/>
                  <a:sym typeface="Arimo"/>
                </a:rPr>
                <a:t>Especialistas físicos para escalar o processo de autenticação premium conforme o volume de transações crescer.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600005" y="7350004"/>
            <a:ext cx="12200001" cy="1700003"/>
            <a:chOff x="0" y="0"/>
            <a:chExt cx="16266668" cy="22666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266668" cy="2266696"/>
            </a:xfrm>
            <a:custGeom>
              <a:avLst/>
              <a:gdLst/>
              <a:ahLst/>
              <a:cxnLst/>
              <a:rect r="r" b="b" t="t" l="l"/>
              <a:pathLst>
                <a:path h="2266696" w="16266668">
                  <a:moveTo>
                    <a:pt x="127000" y="0"/>
                  </a:moveTo>
                  <a:lnTo>
                    <a:pt x="16139668" y="0"/>
                  </a:lnTo>
                  <a:cubicBezTo>
                    <a:pt x="16209807" y="0"/>
                    <a:pt x="16266668" y="56860"/>
                    <a:pt x="16266668" y="127000"/>
                  </a:cubicBezTo>
                  <a:lnTo>
                    <a:pt x="16266668" y="2139696"/>
                  </a:lnTo>
                  <a:cubicBezTo>
                    <a:pt x="16266668" y="2173378"/>
                    <a:pt x="16253287" y="2205681"/>
                    <a:pt x="16229470" y="2229499"/>
                  </a:cubicBezTo>
                  <a:cubicBezTo>
                    <a:pt x="16205653" y="2253316"/>
                    <a:pt x="16173351" y="2266696"/>
                    <a:pt x="16139668" y="2266696"/>
                  </a:cubicBezTo>
                  <a:lnTo>
                    <a:pt x="127000" y="2266696"/>
                  </a:lnTo>
                  <a:cubicBezTo>
                    <a:pt x="56860" y="2266696"/>
                    <a:pt x="0" y="2209836"/>
                    <a:pt x="0" y="2139696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32291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750004" y="7420004"/>
            <a:ext cx="700002" cy="900000"/>
            <a:chOff x="0" y="0"/>
            <a:chExt cx="933336" cy="120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3333" cy="1200002"/>
            </a:xfrm>
            <a:custGeom>
              <a:avLst/>
              <a:gdLst/>
              <a:ahLst/>
              <a:cxnLst/>
              <a:rect r="r" b="b" t="t" l="l"/>
              <a:pathLst>
                <a:path h="1200002" w="933333">
                  <a:moveTo>
                    <a:pt x="0" y="0"/>
                  </a:moveTo>
                  <a:lnTo>
                    <a:pt x="933333" y="0"/>
                  </a:lnTo>
                  <a:lnTo>
                    <a:pt x="933333" y="1200002"/>
                  </a:lnTo>
                  <a:lnTo>
                    <a:pt x="0" y="120000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4961" t="0" r="-11496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3336" cy="1247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24"/>
                </a:lnSpc>
              </a:pPr>
              <a:r>
                <a:rPr lang="en-US" sz="3699" b="true">
                  <a:solidFill>
                    <a:srgbClr val="FFD67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599996" y="7420004"/>
            <a:ext cx="11000003" cy="1500000"/>
            <a:chOff x="0" y="0"/>
            <a:chExt cx="14666671" cy="200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666666" cy="2000004"/>
            </a:xfrm>
            <a:custGeom>
              <a:avLst/>
              <a:gdLst/>
              <a:ahLst/>
              <a:cxnLst/>
              <a:rect r="r" b="b" t="t" l="l"/>
              <a:pathLst>
                <a:path h="2000004" w="14666666">
                  <a:moveTo>
                    <a:pt x="0" y="0"/>
                  </a:moveTo>
                  <a:lnTo>
                    <a:pt x="14666666" y="0"/>
                  </a:lnTo>
                  <a:lnTo>
                    <a:pt x="14666666" y="2000004"/>
                  </a:lnTo>
                  <a:lnTo>
                    <a:pt x="0" y="20000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8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38100"/>
              <a:ext cx="14666671" cy="1961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9"/>
                </a:lnSpc>
              </a:pPr>
              <a:r>
                <a:rPr lang="en-US" sz="269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Mentoria e rede</a:t>
              </a:r>
            </a:p>
            <a:p>
              <a:pPr algn="l">
                <a:lnSpc>
                  <a:spcPts val="2362"/>
                </a:lnSpc>
              </a:pPr>
              <a:r>
                <a:rPr lang="en-US" sz="2099">
                  <a:solidFill>
                    <a:srgbClr val="CCCCCC"/>
                  </a:solidFill>
                  <a:latin typeface="Arimo"/>
                  <a:ea typeface="Arimo"/>
                  <a:cs typeface="Arimo"/>
                  <a:sym typeface="Arimo"/>
                </a:rPr>
                <a:t>Mentores com experiência em marketplace, marketing e luxo para refinar o go-to-market e acelerar os primeiros 6 meses.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05096">
            <a:off x="8653890" y="2150220"/>
            <a:ext cx="2295071" cy="1254639"/>
          </a:xfrm>
          <a:custGeom>
            <a:avLst/>
            <a:gdLst/>
            <a:ahLst/>
            <a:cxnLst/>
            <a:rect r="r" b="b" t="t" l="l"/>
            <a:pathLst>
              <a:path h="1254639" w="2295071">
                <a:moveTo>
                  <a:pt x="0" y="0"/>
                </a:moveTo>
                <a:lnTo>
                  <a:pt x="2295071" y="0"/>
                </a:lnTo>
                <a:lnTo>
                  <a:pt x="2295071" y="1254639"/>
                </a:lnTo>
                <a:lnTo>
                  <a:pt x="0" y="1254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4683759"/>
            <a:ext cx="2900134" cy="2159776"/>
            <a:chOff x="0" y="0"/>
            <a:chExt cx="449307" cy="3346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4"/>
              <a:stretch>
                <a:fillRect l="-5888" t="0" r="-588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08950" y="4683759"/>
            <a:ext cx="2900134" cy="2159776"/>
            <a:chOff x="0" y="0"/>
            <a:chExt cx="449307" cy="334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5"/>
              <a:stretch>
                <a:fillRect l="0" t="-17139" r="0" b="-1713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1698" y="4683759"/>
            <a:ext cx="2900134" cy="2159776"/>
            <a:chOff x="0" y="0"/>
            <a:chExt cx="449307" cy="3346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6"/>
              <a:stretch>
                <a:fillRect l="-5888" t="0" r="-588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7030213"/>
            <a:ext cx="2900134" cy="2159776"/>
            <a:chOff x="0" y="0"/>
            <a:chExt cx="449307" cy="3346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7"/>
              <a:stretch>
                <a:fillRect l="-5888" t="0" r="-588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308950" y="7030213"/>
            <a:ext cx="2900134" cy="2159776"/>
            <a:chOff x="0" y="0"/>
            <a:chExt cx="449307" cy="3346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8"/>
              <a:stretch>
                <a:fillRect l="-33607" t="-44068" r="-30194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41698" y="7030213"/>
            <a:ext cx="2900134" cy="2159776"/>
            <a:chOff x="0" y="0"/>
            <a:chExt cx="449307" cy="3346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307" cy="334606"/>
            </a:xfrm>
            <a:custGeom>
              <a:avLst/>
              <a:gdLst/>
              <a:ahLst/>
              <a:cxnLst/>
              <a:rect r="r" b="b" t="t" l="l"/>
              <a:pathLst>
                <a:path h="334606" w="449307">
                  <a:moveTo>
                    <a:pt x="0" y="0"/>
                  </a:moveTo>
                  <a:lnTo>
                    <a:pt x="449307" y="0"/>
                  </a:lnTo>
                  <a:lnTo>
                    <a:pt x="449307" y="334606"/>
                  </a:lnTo>
                  <a:lnTo>
                    <a:pt x="0" y="334606"/>
                  </a:lnTo>
                  <a:close/>
                </a:path>
              </a:pathLst>
            </a:custGeom>
            <a:blipFill>
              <a:blip r:embed="rId9"/>
              <a:stretch>
                <a:fillRect l="-5888" t="0" r="-5888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64740" y="2714788"/>
            <a:ext cx="8063129" cy="212095"/>
            <a:chOff x="0" y="0"/>
            <a:chExt cx="2123622" cy="558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3623" cy="55860"/>
            </a:xfrm>
            <a:custGeom>
              <a:avLst/>
              <a:gdLst/>
              <a:ahLst/>
              <a:cxnLst/>
              <a:rect r="r" b="b" t="t" l="l"/>
              <a:pathLst>
                <a:path h="55860" w="2123623">
                  <a:moveTo>
                    <a:pt x="0" y="0"/>
                  </a:moveTo>
                  <a:lnTo>
                    <a:pt x="2123623" y="0"/>
                  </a:lnTo>
                  <a:lnTo>
                    <a:pt x="2123623" y="55860"/>
                  </a:lnTo>
                  <a:lnTo>
                    <a:pt x="0" y="558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2123622" cy="122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22832" y="4437499"/>
            <a:ext cx="6683130" cy="4287155"/>
            <a:chOff x="0" y="0"/>
            <a:chExt cx="1760166" cy="11291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60166" cy="1129127"/>
            </a:xfrm>
            <a:custGeom>
              <a:avLst/>
              <a:gdLst/>
              <a:ahLst/>
              <a:cxnLst/>
              <a:rect r="r" b="b" t="t" l="l"/>
              <a:pathLst>
                <a:path h="1129127" w="1760166">
                  <a:moveTo>
                    <a:pt x="0" y="0"/>
                  </a:moveTo>
                  <a:lnTo>
                    <a:pt x="1760166" y="0"/>
                  </a:lnTo>
                  <a:lnTo>
                    <a:pt x="1760166" y="1129127"/>
                  </a:lnTo>
                  <a:lnTo>
                    <a:pt x="0" y="1129127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760166" cy="1195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391779"/>
            <a:ext cx="6964726" cy="246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88"/>
              </a:lnSpc>
              <a:spcBef>
                <a:spcPct val="0"/>
              </a:spcBef>
            </a:pPr>
            <a:r>
              <a:rPr lang="en-US" sz="13563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VALIDAÇÃO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33517" y="1861313"/>
            <a:ext cx="7991295" cy="1791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94"/>
              </a:lnSpc>
              <a:spcBef>
                <a:spcPct val="0"/>
              </a:spcBef>
            </a:pPr>
            <a:r>
              <a:rPr lang="en-US" sz="12919" spc="297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do Produto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3863947"/>
            <a:ext cx="2451575" cy="72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1999" spc="45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SISTEMA COMPLETO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308950" y="3863947"/>
            <a:ext cx="2399543" cy="72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1999" spc="45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FUNCIONAL E TESTADO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541698" y="4199862"/>
            <a:ext cx="2681715" cy="35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9"/>
              </a:lnSpc>
              <a:spcBef>
                <a:spcPct val="0"/>
              </a:spcBef>
            </a:pPr>
            <a:r>
              <a:rPr lang="en-US" b="true" sz="1999" spc="45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PRONTO PARA USO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03388" y="4776470"/>
            <a:ext cx="6522017" cy="3523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5"/>
              </a:lnSpc>
              <a:spcBef>
                <a:spcPct val="0"/>
              </a:spcBef>
            </a:pPr>
            <a:r>
              <a:rPr lang="en-US" b="true" sz="2699" spc="62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Sistema de website seguro com autenticação do usuário, autenticação de peças, incluso catálogo com filtros, chat em tempo real, verificação de vendedor com selo, upload de fotos, avaliações, favoritos e checkout.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94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251E1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05096">
            <a:off x="9449964" y="436259"/>
            <a:ext cx="2040320" cy="1115375"/>
          </a:xfrm>
          <a:custGeom>
            <a:avLst/>
            <a:gdLst/>
            <a:ahLst/>
            <a:cxnLst/>
            <a:rect r="r" b="b" t="t" l="l"/>
            <a:pathLst>
              <a:path h="1115375" w="2040320">
                <a:moveTo>
                  <a:pt x="0" y="0"/>
                </a:moveTo>
                <a:lnTo>
                  <a:pt x="2040320" y="0"/>
                </a:lnTo>
                <a:lnTo>
                  <a:pt x="2040320" y="1115375"/>
                </a:lnTo>
                <a:lnTo>
                  <a:pt x="0" y="11153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18849" y="2308153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67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1764" y="2771068"/>
            <a:ext cx="3303342" cy="33033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5331" r="0" b="-533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325492" y="-222789"/>
            <a:ext cx="1365070" cy="217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80"/>
              </a:lnSpc>
              <a:spcBef>
                <a:spcPct val="0"/>
              </a:spcBef>
            </a:pPr>
            <a:r>
              <a:rPr lang="en-US" sz="12057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13964" y="6118294"/>
            <a:ext cx="3834255" cy="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ANA CAROLINA CURI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40948" y="384039"/>
            <a:ext cx="3199779" cy="160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74"/>
              </a:lnSpc>
              <a:spcBef>
                <a:spcPct val="0"/>
              </a:spcBef>
            </a:pPr>
            <a:r>
              <a:rPr lang="en-US" sz="11485" spc="264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93197" y="352323"/>
            <a:ext cx="4953855" cy="160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74"/>
              </a:lnSpc>
              <a:spcBef>
                <a:spcPct val="0"/>
              </a:spcBef>
            </a:pPr>
            <a:r>
              <a:rPr lang="en-US" sz="11485" spc="264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Equipe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1805096">
            <a:off x="99161" y="2101125"/>
            <a:ext cx="3205325" cy="1752244"/>
          </a:xfrm>
          <a:custGeom>
            <a:avLst/>
            <a:gdLst/>
            <a:ahLst/>
            <a:cxnLst/>
            <a:rect r="r" b="b" t="t" l="l"/>
            <a:pathLst>
              <a:path h="1752244" w="3205325">
                <a:moveTo>
                  <a:pt x="0" y="0"/>
                </a:moveTo>
                <a:lnTo>
                  <a:pt x="3205325" y="0"/>
                </a:lnTo>
                <a:lnTo>
                  <a:pt x="3205325" y="1752244"/>
                </a:lnTo>
                <a:lnTo>
                  <a:pt x="0" y="17522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103857" y="1956178"/>
            <a:ext cx="3998565" cy="3086100"/>
            <a:chOff x="0" y="0"/>
            <a:chExt cx="105312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3120" cy="812800"/>
            </a:xfrm>
            <a:custGeom>
              <a:avLst/>
              <a:gdLst/>
              <a:ahLst/>
              <a:cxnLst/>
              <a:rect r="r" b="b" t="t" l="l"/>
              <a:pathLst>
                <a:path h="812800" w="1053120">
                  <a:moveTo>
                    <a:pt x="0" y="0"/>
                  </a:moveTo>
                  <a:lnTo>
                    <a:pt x="1053120" y="0"/>
                  </a:lnTo>
                  <a:lnTo>
                    <a:pt x="105312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67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5312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40548" y="2495478"/>
            <a:ext cx="3303342" cy="33033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 l="-45066" t="-6146" r="-14972" b="-21855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-1894332">
            <a:off x="8878996" y="4301531"/>
            <a:ext cx="2710050" cy="1481494"/>
          </a:xfrm>
          <a:custGeom>
            <a:avLst/>
            <a:gdLst/>
            <a:ahLst/>
            <a:cxnLst/>
            <a:rect r="r" b="b" t="t" l="l"/>
            <a:pathLst>
              <a:path h="1481494" w="2710050">
                <a:moveTo>
                  <a:pt x="0" y="0"/>
                </a:moveTo>
                <a:lnTo>
                  <a:pt x="2710050" y="0"/>
                </a:lnTo>
                <a:lnTo>
                  <a:pt x="2710050" y="1481494"/>
                </a:lnTo>
                <a:lnTo>
                  <a:pt x="0" y="1481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790020" y="2190455"/>
            <a:ext cx="3086100" cy="308610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D67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26272" y="2653370"/>
            <a:ext cx="3303342" cy="330334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6"/>
              <a:stretch>
                <a:fillRect l="0" t="-30941" r="0" b="-46923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2011075">
            <a:off x="14826952" y="1853828"/>
            <a:ext cx="3205325" cy="1752244"/>
          </a:xfrm>
          <a:custGeom>
            <a:avLst/>
            <a:gdLst/>
            <a:ahLst/>
            <a:cxnLst/>
            <a:rect r="r" b="b" t="t" l="l"/>
            <a:pathLst>
              <a:path h="1752244" w="3205325">
                <a:moveTo>
                  <a:pt x="0" y="0"/>
                </a:moveTo>
                <a:lnTo>
                  <a:pt x="3205325" y="0"/>
                </a:lnTo>
                <a:lnTo>
                  <a:pt x="3205325" y="1752245"/>
                </a:lnTo>
                <a:lnTo>
                  <a:pt x="0" y="1752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0960" y="6118294"/>
            <a:ext cx="3804949" cy="92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ANA CAROLINA AFONSO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86046" y="6335209"/>
            <a:ext cx="3183795" cy="46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799" spc="64" strike="noStrike" u="none">
                <a:solidFill>
                  <a:srgbClr val="FFD67A"/>
                </a:solidFill>
                <a:latin typeface="Arimo Bold"/>
                <a:ea typeface="Arimo Bold"/>
                <a:cs typeface="Arimo Bold"/>
                <a:sym typeface="Arimo Bold"/>
              </a:rPr>
              <a:t>ANNA NAVARRO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18849" y="7108733"/>
            <a:ext cx="4474757" cy="21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5"/>
              </a:lnSpc>
              <a:spcBef>
                <a:spcPct val="0"/>
              </a:spcBef>
            </a:pPr>
            <a:r>
              <a:rPr lang="en-US" b="true" sz="3242" spc="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arr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ga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da de cuidar da segurança dos dados e da parte técnica do website.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76117" y="7108733"/>
            <a:ext cx="3832203" cy="21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5"/>
              </a:lnSpc>
              <a:spcBef>
                <a:spcPct val="0"/>
              </a:spcBef>
            </a:pPr>
            <a:r>
              <a:rPr lang="en-US" b="true" sz="3242" spc="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Pa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rte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is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d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ite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clu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ind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experiência do usuário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91609" y="7108733"/>
            <a:ext cx="3784511" cy="21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5"/>
              </a:lnSpc>
              <a:spcBef>
                <a:spcPct val="0"/>
              </a:spcBef>
            </a:pPr>
            <a:r>
              <a:rPr lang="en-US" b="true" sz="3242" spc="7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Suport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 técnico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ao u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uá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rio em tempo real 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c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ha</a:t>
            </a:r>
            <a:r>
              <a:rPr lang="en-US" b="true" sz="3242" spc="74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82540" y="911002"/>
            <a:ext cx="2676760" cy="504763"/>
            <a:chOff x="0" y="0"/>
            <a:chExt cx="704990" cy="132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4990" cy="132942"/>
            </a:xfrm>
            <a:custGeom>
              <a:avLst/>
              <a:gdLst/>
              <a:ahLst/>
              <a:cxnLst/>
              <a:rect r="r" b="b" t="t" l="l"/>
              <a:pathLst>
                <a:path h="132942" w="704990">
                  <a:moveTo>
                    <a:pt x="66471" y="0"/>
                  </a:moveTo>
                  <a:lnTo>
                    <a:pt x="638519" y="0"/>
                  </a:lnTo>
                  <a:cubicBezTo>
                    <a:pt x="656149" y="0"/>
                    <a:pt x="673056" y="7003"/>
                    <a:pt x="685521" y="19469"/>
                  </a:cubicBezTo>
                  <a:cubicBezTo>
                    <a:pt x="697987" y="31935"/>
                    <a:pt x="704990" y="48842"/>
                    <a:pt x="704990" y="66471"/>
                  </a:cubicBezTo>
                  <a:lnTo>
                    <a:pt x="704990" y="66471"/>
                  </a:lnTo>
                  <a:cubicBezTo>
                    <a:pt x="704990" y="84100"/>
                    <a:pt x="697987" y="101007"/>
                    <a:pt x="685521" y="113473"/>
                  </a:cubicBezTo>
                  <a:cubicBezTo>
                    <a:pt x="673056" y="125938"/>
                    <a:pt x="656149" y="132942"/>
                    <a:pt x="638519" y="132942"/>
                  </a:cubicBezTo>
                  <a:lnTo>
                    <a:pt x="66471" y="132942"/>
                  </a:lnTo>
                  <a:cubicBezTo>
                    <a:pt x="48842" y="132942"/>
                    <a:pt x="31935" y="125938"/>
                    <a:pt x="19469" y="113473"/>
                  </a:cubicBezTo>
                  <a:cubicBezTo>
                    <a:pt x="7003" y="101007"/>
                    <a:pt x="0" y="84100"/>
                    <a:pt x="0" y="66471"/>
                  </a:cubicBezTo>
                  <a:lnTo>
                    <a:pt x="0" y="66471"/>
                  </a:lnTo>
                  <a:cubicBezTo>
                    <a:pt x="0" y="48842"/>
                    <a:pt x="7003" y="31935"/>
                    <a:pt x="19469" y="19469"/>
                  </a:cubicBezTo>
                  <a:cubicBezTo>
                    <a:pt x="31935" y="7003"/>
                    <a:pt x="48842" y="0"/>
                    <a:pt x="664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704990" cy="199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9376418">
            <a:off x="9298302" y="3357205"/>
            <a:ext cx="2278546" cy="1245605"/>
          </a:xfrm>
          <a:custGeom>
            <a:avLst/>
            <a:gdLst/>
            <a:ahLst/>
            <a:cxnLst/>
            <a:rect r="r" b="b" t="t" l="l"/>
            <a:pathLst>
              <a:path h="1245605" w="2278546">
                <a:moveTo>
                  <a:pt x="0" y="0"/>
                </a:moveTo>
                <a:lnTo>
                  <a:pt x="2278546" y="0"/>
                </a:lnTo>
                <a:lnTo>
                  <a:pt x="2278546" y="1245605"/>
                </a:lnTo>
                <a:lnTo>
                  <a:pt x="0" y="12456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31868" y="5500833"/>
            <a:ext cx="4602204" cy="3757467"/>
            <a:chOff x="0" y="0"/>
            <a:chExt cx="1212103" cy="9896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2103" cy="989621"/>
            </a:xfrm>
            <a:custGeom>
              <a:avLst/>
              <a:gdLst/>
              <a:ahLst/>
              <a:cxnLst/>
              <a:rect r="r" b="b" t="t" l="l"/>
              <a:pathLst>
                <a:path h="989621" w="1212103">
                  <a:moveTo>
                    <a:pt x="0" y="0"/>
                  </a:moveTo>
                  <a:lnTo>
                    <a:pt x="1212103" y="0"/>
                  </a:lnTo>
                  <a:lnTo>
                    <a:pt x="1212103" y="989621"/>
                  </a:lnTo>
                  <a:lnTo>
                    <a:pt x="0" y="989621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212103" cy="105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731151" y="1949449"/>
            <a:ext cx="7515501" cy="3775929"/>
            <a:chOff x="0" y="0"/>
            <a:chExt cx="1979391" cy="9944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9391" cy="994483"/>
            </a:xfrm>
            <a:custGeom>
              <a:avLst/>
              <a:gdLst/>
              <a:ahLst/>
              <a:cxnLst/>
              <a:rect r="r" b="b" t="t" l="l"/>
              <a:pathLst>
                <a:path h="994483" w="1979391">
                  <a:moveTo>
                    <a:pt x="0" y="0"/>
                  </a:moveTo>
                  <a:lnTo>
                    <a:pt x="1979391" y="0"/>
                  </a:lnTo>
                  <a:lnTo>
                    <a:pt x="1979391" y="994483"/>
                  </a:lnTo>
                  <a:lnTo>
                    <a:pt x="0" y="994483"/>
                  </a:lnTo>
                  <a:close/>
                </a:path>
              </a:pathLst>
            </a:custGeom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979391" cy="1061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68388" y="2212209"/>
            <a:ext cx="6725904" cy="6255843"/>
            <a:chOff x="0" y="0"/>
            <a:chExt cx="1042018" cy="9691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2018" cy="969194"/>
            </a:xfrm>
            <a:custGeom>
              <a:avLst/>
              <a:gdLst/>
              <a:ahLst/>
              <a:cxnLst/>
              <a:rect r="r" b="b" t="t" l="l"/>
              <a:pathLst>
                <a:path h="969194" w="1042018">
                  <a:moveTo>
                    <a:pt x="0" y="0"/>
                  </a:moveTo>
                  <a:lnTo>
                    <a:pt x="1042018" y="0"/>
                  </a:lnTo>
                  <a:lnTo>
                    <a:pt x="1042018" y="969194"/>
                  </a:lnTo>
                  <a:lnTo>
                    <a:pt x="0" y="969194"/>
                  </a:lnTo>
                  <a:close/>
                </a:path>
              </a:pathLst>
            </a:custGeom>
            <a:blipFill>
              <a:blip r:embed="rId4"/>
              <a:stretch>
                <a:fillRect l="-19802" t="0" r="-1980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09284" y="5823737"/>
            <a:ext cx="3670388" cy="3086129"/>
            <a:chOff x="0" y="0"/>
            <a:chExt cx="1067349" cy="8974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7349" cy="897447"/>
            </a:xfrm>
            <a:custGeom>
              <a:avLst/>
              <a:gdLst/>
              <a:ahLst/>
              <a:cxnLst/>
              <a:rect r="r" b="b" t="t" l="l"/>
              <a:pathLst>
                <a:path h="897447" w="1067349">
                  <a:moveTo>
                    <a:pt x="0" y="0"/>
                  </a:moveTo>
                  <a:lnTo>
                    <a:pt x="1067349" y="0"/>
                  </a:lnTo>
                  <a:lnTo>
                    <a:pt x="1067349" y="897447"/>
                  </a:lnTo>
                  <a:lnTo>
                    <a:pt x="0" y="897447"/>
                  </a:lnTo>
                  <a:close/>
                </a:path>
              </a:pathLst>
            </a:custGeom>
            <a:blipFill>
              <a:blip r:embed="rId5"/>
              <a:stretch>
                <a:fillRect l="-13100" t="0" r="-1310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634072" y="8537647"/>
            <a:ext cx="6412539" cy="282671"/>
            <a:chOff x="0" y="0"/>
            <a:chExt cx="1688899" cy="744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88899" cy="74448"/>
            </a:xfrm>
            <a:custGeom>
              <a:avLst/>
              <a:gdLst/>
              <a:ahLst/>
              <a:cxnLst/>
              <a:rect r="r" b="b" t="t" l="l"/>
              <a:pathLst>
                <a:path h="74448" w="1688899">
                  <a:moveTo>
                    <a:pt x="0" y="0"/>
                  </a:moveTo>
                  <a:lnTo>
                    <a:pt x="1688899" y="0"/>
                  </a:lnTo>
                  <a:lnTo>
                    <a:pt x="1688899" y="74448"/>
                  </a:lnTo>
                  <a:lnTo>
                    <a:pt x="0" y="7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688899" cy="141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3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98488" y="2567020"/>
            <a:ext cx="6214274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0"/>
              </a:lnSpc>
              <a:spcBef>
                <a:spcPct val="0"/>
              </a:spcBef>
            </a:pPr>
            <a:r>
              <a:rPr lang="en-US" sz="24000" strike="noStrike" u="none">
                <a:solidFill>
                  <a:srgbClr val="FFFFFF"/>
                </a:solidFill>
                <a:latin typeface="Perandory Condensed"/>
                <a:ea typeface="Perandory Condensed"/>
                <a:cs typeface="Perandory Condensed"/>
                <a:sym typeface="Perandory Condensed"/>
              </a:rPr>
              <a:t>REMAIN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50887" y="3199088"/>
            <a:ext cx="5983185" cy="257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94"/>
              </a:lnSpc>
              <a:spcBef>
                <a:spcPct val="0"/>
              </a:spcBef>
            </a:pPr>
            <a:r>
              <a:rPr lang="en-US" sz="18579" spc="427" strike="noStrike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Luxury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62025"/>
            <a:ext cx="2499066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Remain Luxury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82540" y="962025"/>
            <a:ext cx="2446739" cy="3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sz="1799" spc="41" strike="noStrike" u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Pitch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239878" y="8922258"/>
            <a:ext cx="4019422" cy="66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63"/>
              </a:lnSpc>
              <a:spcBef>
                <a:spcPct val="0"/>
              </a:spcBef>
            </a:pPr>
            <a:r>
              <a:rPr lang="en-US" b="true" sz="1799" i="true" spc="41" strike="noStrike" u="none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Ana Afonso · Ana Curi · Anna Navarro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2260" y="6396888"/>
            <a:ext cx="6736193" cy="96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7"/>
              </a:lnSpc>
            </a:pPr>
            <a:r>
              <a:rPr lang="en-US" sz="6006" strike="noStrike" spc="138" u="none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Luxo que continua valendo.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2260" y="1663415"/>
            <a:ext cx="5983185" cy="257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694"/>
              </a:lnSpc>
              <a:spcBef>
                <a:spcPct val="0"/>
              </a:spcBef>
            </a:pPr>
            <a:r>
              <a:rPr lang="en-US" sz="18579" spc="427">
                <a:solidFill>
                  <a:srgbClr val="FFD67A"/>
                </a:solidFill>
                <a:latin typeface="Sloop Script Pro"/>
                <a:ea typeface="Sloop Script Pro"/>
                <a:cs typeface="Sloop Script Pro"/>
                <a:sym typeface="Sloop Script Pro"/>
              </a:rPr>
              <a:t>Astra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DAHMlJu-CaM</dc:identifier>
  <dcterms:modified xsi:type="dcterms:W3CDTF">2011-08-01T06:04:30Z</dcterms:modified>
  <cp:revision>1</cp:revision>
  <dc:title>Astra</dc:title>
</cp:coreProperties>
</file>